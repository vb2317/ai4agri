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C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36576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THE STORY</a:t>
            </a:r>
            <a:endParaRPr lang="en-US" sz="1100" dirty="0"/>
          </a:p>
        </p:txBody>
      </p:sp>
      <p:sp>
        <p:nvSpPr>
          <p:cNvPr id="4" name="Text 2"/>
          <p:cNvSpPr/>
          <p:nvPr/>
        </p:nvSpPr>
        <p:spPr>
          <a:xfrm>
            <a:off x="731520" y="731520"/>
            <a:ext cx="4572000" cy="10972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A Tuesday morning</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in Raipur</a:t>
            </a:r>
            <a:endParaRPr lang="en-US" sz="3200" dirty="0"/>
          </a:p>
        </p:txBody>
      </p:sp>
      <p:sp>
        <p:nvSpPr>
          <p:cNvPr id="5" name="Text 3"/>
          <p:cNvSpPr/>
          <p:nvPr/>
        </p:nvSpPr>
        <p:spPr>
          <a:xfrm>
            <a:off x="731520" y="1965960"/>
            <a:ext cx="3931920" cy="1463040"/>
          </a:xfrm>
          <a:prstGeom prst="rect">
            <a:avLst/>
          </a:prstGeom>
          <a:noFill/>
          <a:ln/>
        </p:spPr>
        <p:txBody>
          <a:bodyPr wrap="square" lIns="0" tIns="0" rIns="0" bIns="0" rtlCol="0" anchor="ctr"/>
          <a:lstStyle/>
          <a:p>
            <a:pPr indent="0" marL="0">
              <a:buNone/>
            </a:pPr>
            <a:r>
              <a:rPr lang="en-US" sz="1200" dirty="0">
                <a:solidFill>
                  <a:srgbClr val="BBBBBB"/>
                </a:solidFill>
                <a:latin typeface="Calibri" pitchFamily="34" charset="0"/>
                <a:ea typeface="Calibri" pitchFamily="34" charset="-122"/>
                <a:cs typeface="Calibri" pitchFamily="34" charset="-120"/>
              </a:rPr>
              <a:t>A PMFBY claims officer has a 600-hectare paddy loss claim on his desk. Hand-drawn maps, a few photos. He can approve (the state pays), reject (a farmer suicide in tomorrow's paper), or order a 14-hour field inspection. He has no way to see what actually happened, week by week, across that land.</a:t>
            </a:r>
            <a:endParaRPr lang="en-US" sz="1200" dirty="0"/>
          </a:p>
        </p:txBody>
      </p:sp>
      <p:sp>
        <p:nvSpPr>
          <p:cNvPr id="6" name="Text 4"/>
          <p:cNvSpPr/>
          <p:nvPr/>
        </p:nvSpPr>
        <p:spPr>
          <a:xfrm>
            <a:off x="731520" y="3520440"/>
            <a:ext cx="3931920" cy="64008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Our product gives him that. One screen, parcel-level, temporally resolved. Decision in twenty minutes instead of three weeks.</a:t>
            </a:r>
            <a:endParaRPr lang="en-US" sz="1200" dirty="0"/>
          </a:p>
        </p:txBody>
      </p:sp>
      <p:sp>
        <p:nvSpPr>
          <p:cNvPr id="7" name="Text 5"/>
          <p:cNvSpPr/>
          <p:nvPr/>
        </p:nvSpPr>
        <p:spPr>
          <a:xfrm>
            <a:off x="731520" y="4251960"/>
            <a:ext cx="4572000" cy="274320"/>
          </a:xfrm>
          <a:prstGeom prst="rect">
            <a:avLst/>
          </a:prstGeom>
          <a:noFill/>
          <a:ln/>
        </p:spPr>
        <p:txBody>
          <a:bodyPr wrap="square" lIns="0" tIns="0" rIns="0" bIns="0" rtlCol="0" anchor="ctr"/>
          <a:lstStyle/>
          <a:p>
            <a:pPr indent="0" marL="0">
              <a:buNone/>
            </a:pPr>
            <a:r>
              <a:rPr lang="en-US" sz="1000" i="1" dirty="0">
                <a:solidFill>
                  <a:srgbClr val="7A7A7A"/>
                </a:solidFill>
                <a:latin typeface="Calibri" pitchFamily="34" charset="0"/>
                <a:ea typeface="Calibri" pitchFamily="34" charset="-122"/>
                <a:cs typeface="Calibri" pitchFamily="34" charset="-120"/>
              </a:rPr>
              <a:t>~200 officers like him across India's state ag departments. That's the buyer.</a:t>
            </a:r>
            <a:endParaRPr lang="en-US" sz="1000" dirty="0"/>
          </a:p>
        </p:txBody>
      </p:sp>
      <p:sp>
        <p:nvSpPr>
          <p:cNvPr id="8" name="Shape 6"/>
          <p:cNvSpPr/>
          <p:nvPr/>
        </p:nvSpPr>
        <p:spPr>
          <a:xfrm>
            <a:off x="5120640" y="731520"/>
            <a:ext cx="3657600" cy="3794760"/>
          </a:xfrm>
          <a:prstGeom prst="rect">
            <a:avLst/>
          </a:prstGeom>
          <a:solidFill>
            <a:srgbClr val="2E3033"/>
          </a:solidFill>
          <a:ln/>
        </p:spPr>
      </p:sp>
      <p:sp>
        <p:nvSpPr>
          <p:cNvPr id="9" name="Text 7"/>
          <p:cNvSpPr/>
          <p:nvPr/>
        </p:nvSpPr>
        <p:spPr>
          <a:xfrm>
            <a:off x="5349240" y="914400"/>
            <a:ext cx="3200400" cy="320040"/>
          </a:xfrm>
          <a:prstGeom prst="rect">
            <a:avLst/>
          </a:prstGeom>
          <a:noFill/>
          <a:ln/>
        </p:spPr>
        <p:txBody>
          <a:bodyPr wrap="square" lIns="0" tIns="0" rIns="0" bIns="0" rtlCol="0" anchor="ctr"/>
          <a:lstStyle/>
          <a:p>
            <a:pPr indent="0" marL="0">
              <a:buNone/>
            </a:pPr>
            <a:r>
              <a:rPr lang="en-US" sz="1300" b="1" dirty="0">
                <a:solidFill>
                  <a:srgbClr val="C4703F"/>
                </a:solidFill>
                <a:latin typeface="Calibri" pitchFamily="34" charset="0"/>
                <a:ea typeface="Calibri" pitchFamily="34" charset="-122"/>
                <a:cs typeface="Calibri" pitchFamily="34" charset="-120"/>
              </a:rPr>
              <a:t>What the RFP tells us</a:t>
            </a:r>
            <a:endParaRPr lang="en-US" sz="1300" dirty="0"/>
          </a:p>
        </p:txBody>
      </p:sp>
      <p:sp>
        <p:nvSpPr>
          <p:cNvPr id="10" name="Text 8"/>
          <p:cNvSpPr/>
          <p:nvPr/>
        </p:nvSpPr>
        <p:spPr>
          <a:xfrm>
            <a:off x="5349240" y="1325880"/>
            <a:ext cx="3200400" cy="91440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The Chhattisgarh AI4Agri RFP isn't just a tender. It's a state government writing down its model of what ag intelligence infrastructure should look like for the next decade.</a:t>
            </a:r>
            <a:endParaRPr lang="en-US" sz="1050" dirty="0"/>
          </a:p>
        </p:txBody>
      </p:sp>
      <p:sp>
        <p:nvSpPr>
          <p:cNvPr id="11" name="Text 9"/>
          <p:cNvSpPr/>
          <p:nvPr/>
        </p:nvSpPr>
        <p:spPr>
          <a:xfrm>
            <a:off x="5349240" y="2331720"/>
            <a:ext cx="3200400" cy="274320"/>
          </a:xfrm>
          <a:prstGeom prst="rect">
            <a:avLst/>
          </a:prstGeom>
          <a:noFill/>
          <a:ln/>
        </p:spPr>
        <p:txBody>
          <a:bodyPr wrap="square" lIns="0" tIns="0" rIns="0" bIns="0" rtlCol="0" anchor="ctr"/>
          <a:lstStyle/>
          <a:p>
            <a:pPr indent="0" marL="0">
              <a:buNone/>
            </a:pPr>
            <a:r>
              <a:rPr lang="en-US" sz="1050" b="1" dirty="0">
                <a:solidFill>
                  <a:srgbClr val="CCCCCC"/>
                </a:solidFill>
                <a:latin typeface="Calibri" pitchFamily="34" charset="0"/>
                <a:ea typeface="Calibri" pitchFamily="34" charset="-122"/>
                <a:cs typeface="Calibri" pitchFamily="34" charset="-120"/>
              </a:rPr>
              <a:t>Not an ML model. An operational platform:</a:t>
            </a:r>
            <a:endParaRPr lang="en-US" sz="1050" dirty="0"/>
          </a:p>
        </p:txBody>
      </p:sp>
      <p:sp>
        <p:nvSpPr>
          <p:cNvPr id="12" name="Text 10"/>
          <p:cNvSpPr/>
          <p:nvPr/>
        </p:nvSpPr>
        <p:spPr>
          <a:xfrm>
            <a:off x="5349240" y="2651760"/>
            <a:ext cx="3200400" cy="1645920"/>
          </a:xfrm>
          <a:prstGeom prst="rect">
            <a:avLst/>
          </a:prstGeom>
          <a:noFill/>
          <a:ln/>
        </p:spPr>
        <p:txBody>
          <a:bodyPr wrap="square" lIns="0" tIns="0" rIns="0" bIns="0" rtlCol="0" anchor="ctr"/>
          <a:lstStyle/>
          <a:p>
            <a:pPr marL="342900" indent="-342900">
              <a:buSzPct val="100000"/>
              <a:buChar char="•"/>
            </a:pPr>
            <a:r>
              <a:rPr lang="en-US" sz="1000" dirty="0">
                <a:solidFill>
                  <a:srgbClr val="BBBBBB"/>
                </a:solidFill>
                <a:latin typeface="Calibri" pitchFamily="34" charset="0"/>
                <a:ea typeface="Calibri" pitchFamily="34" charset="-122"/>
                <a:cs typeface="Calibri" pitchFamily="34" charset="-120"/>
              </a:rPr>
              <a:t>Parcel-level crop maps + confidence</a:t>
            </a:r>
            <a:endParaRPr lang="en-US" sz="1000" dirty="0"/>
          </a:p>
          <a:p>
            <a:pPr marL="342900" indent="-342900">
              <a:buSzPct val="100000"/>
              <a:buChar char="•"/>
            </a:pPr>
            <a:r>
              <a:rPr lang="en-US" sz="1000" dirty="0">
                <a:solidFill>
                  <a:srgbClr val="BBBBBB"/>
                </a:solidFill>
                <a:latin typeface="Calibri" pitchFamily="34" charset="0"/>
                <a:ea typeface="Calibri" pitchFamily="34" charset="-122"/>
                <a:cs typeface="Calibri" pitchFamily="34" charset="-120"/>
              </a:rPr>
              <a:t>Health alerts, yield forecasts</a:t>
            </a:r>
            <a:endParaRPr lang="en-US" sz="1000" dirty="0"/>
          </a:p>
          <a:p>
            <a:pPr marL="342900" indent="-342900">
              <a:buSzPct val="100000"/>
              <a:buChar char="•"/>
            </a:pPr>
            <a:r>
              <a:rPr lang="en-US" sz="1000" dirty="0">
                <a:solidFill>
                  <a:srgbClr val="BBBBBB"/>
                </a:solidFill>
                <a:latin typeface="Calibri" pitchFamily="34" charset="0"/>
                <a:ea typeface="Calibri" pitchFamily="34" charset="-122"/>
                <a:cs typeface="Calibri" pitchFamily="34" charset="-120"/>
              </a:rPr>
              <a:t>Procurement planning (MSP, PACS)</a:t>
            </a:r>
            <a:endParaRPr lang="en-US" sz="1000" dirty="0"/>
          </a:p>
          <a:p>
            <a:pPr marL="342900" indent="-342900">
              <a:buSzPct val="100000"/>
              <a:buChar char="•"/>
            </a:pPr>
            <a:r>
              <a:rPr lang="en-US" sz="1000" dirty="0">
                <a:solidFill>
                  <a:srgbClr val="BBBBBB"/>
                </a:solidFill>
                <a:latin typeface="Calibri" pitchFamily="34" charset="0"/>
                <a:ea typeface="Calibri" pitchFamily="34" charset="-122"/>
                <a:cs typeface="Calibri" pitchFamily="34" charset="-120"/>
              </a:rPr>
              <a:t>Disaster response (flood, drought)</a:t>
            </a:r>
            <a:endParaRPr lang="en-US" sz="1000" dirty="0"/>
          </a:p>
          <a:p>
            <a:pPr marL="342900" indent="-342900">
              <a:buSzPct val="100000"/>
              <a:buChar char="•"/>
            </a:pPr>
            <a:r>
              <a:rPr lang="en-US" sz="1000" dirty="0">
                <a:solidFill>
                  <a:srgbClr val="BBBBBB"/>
                </a:solidFill>
                <a:latin typeface="Calibri" pitchFamily="34" charset="0"/>
                <a:ea typeface="Calibri" pitchFamily="34" charset="-122"/>
                <a:cs typeface="Calibri" pitchFamily="34" charset="-120"/>
              </a:rPr>
              <a:t>Auditable reports, APIs, mobile, helpdesk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C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36576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THE WHY</a:t>
            </a:r>
            <a:endParaRPr lang="en-US" sz="1100" dirty="0"/>
          </a:p>
        </p:txBody>
      </p:sp>
      <p:sp>
        <p:nvSpPr>
          <p:cNvPr id="4" name="Text 2"/>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Why do this at all</a:t>
            </a:r>
            <a:endParaRPr lang="en-US" sz="2800" dirty="0"/>
          </a:p>
        </p:txBody>
      </p:sp>
      <p:sp>
        <p:nvSpPr>
          <p:cNvPr id="5" name="Text 3"/>
          <p:cNvSpPr/>
          <p:nvPr/>
        </p:nvSpPr>
        <p:spPr>
          <a:xfrm>
            <a:off x="731520" y="1417320"/>
            <a:ext cx="7772400" cy="640080"/>
          </a:xfrm>
          <a:prstGeom prst="rect">
            <a:avLst/>
          </a:prstGeom>
          <a:noFill/>
          <a:ln/>
        </p:spPr>
        <p:txBody>
          <a:bodyPr wrap="square" lIns="0" tIns="0" rIns="0" bIns="0" rtlCol="0" anchor="ctr"/>
          <a:lstStyle/>
          <a:p>
            <a:pPr indent="0" marL="0">
              <a:buNone/>
            </a:pPr>
            <a:r>
              <a:rPr lang="en-US" sz="1300" i="1" dirty="0">
                <a:solidFill>
                  <a:srgbClr val="FFFFFF"/>
                </a:solidFill>
                <a:latin typeface="Georgia" pitchFamily="34" charset="0"/>
                <a:ea typeface="Georgia" pitchFamily="34" charset="-122"/>
                <a:cs typeface="Georgia" pitchFamily="34" charset="-120"/>
              </a:rPr>
              <a:t>The question isn't whether this technology works. It does. The question is whether three people with the right skills and the wrong appetite for bureaucracy should be the ones to carry it into the world.</a:t>
            </a:r>
            <a:endParaRPr lang="en-US" sz="1300" dirty="0"/>
          </a:p>
        </p:txBody>
      </p:sp>
      <p:sp>
        <p:nvSpPr>
          <p:cNvPr id="6" name="Shape 4"/>
          <p:cNvSpPr/>
          <p:nvPr/>
        </p:nvSpPr>
        <p:spPr>
          <a:xfrm>
            <a:off x="731520" y="2331720"/>
            <a:ext cx="3840480" cy="2377440"/>
          </a:xfrm>
          <a:prstGeom prst="rect">
            <a:avLst/>
          </a:prstGeom>
          <a:solidFill>
            <a:srgbClr val="2E3033"/>
          </a:solidFill>
          <a:ln/>
        </p:spPr>
      </p:sp>
      <p:sp>
        <p:nvSpPr>
          <p:cNvPr id="7" name="Shape 5"/>
          <p:cNvSpPr/>
          <p:nvPr/>
        </p:nvSpPr>
        <p:spPr>
          <a:xfrm>
            <a:off x="731520" y="2331720"/>
            <a:ext cx="3840480" cy="54864"/>
          </a:xfrm>
          <a:prstGeom prst="rect">
            <a:avLst/>
          </a:prstGeom>
          <a:solidFill>
            <a:srgbClr val="4A7C59"/>
          </a:solidFill>
          <a:ln/>
        </p:spPr>
      </p:sp>
      <p:sp>
        <p:nvSpPr>
          <p:cNvPr id="8" name="Text 6"/>
          <p:cNvSpPr/>
          <p:nvPr/>
        </p:nvSpPr>
        <p:spPr>
          <a:xfrm>
            <a:off x="960120" y="2468880"/>
            <a:ext cx="3383280" cy="274320"/>
          </a:xfrm>
          <a:prstGeom prst="rect">
            <a:avLst/>
          </a:prstGeom>
          <a:noFill/>
          <a:ln/>
        </p:spPr>
        <p:txBody>
          <a:bodyPr wrap="square" lIns="0" tIns="0" rIns="0" bIns="0" rtlCol="0" anchor="ctr"/>
          <a:lstStyle/>
          <a:p>
            <a:pPr indent="0" marL="0">
              <a:buNone/>
            </a:pPr>
            <a:r>
              <a:rPr lang="en-US" sz="1300" b="1" dirty="0">
                <a:solidFill>
                  <a:srgbClr val="4A7C59"/>
                </a:solidFill>
                <a:latin typeface="Calibri" pitchFamily="34" charset="0"/>
                <a:ea typeface="Calibri" pitchFamily="34" charset="-122"/>
                <a:cs typeface="Calibri" pitchFamily="34" charset="-120"/>
              </a:rPr>
              <a:t>The best case</a:t>
            </a:r>
            <a:endParaRPr lang="en-US" sz="1300" dirty="0"/>
          </a:p>
        </p:txBody>
      </p:sp>
      <p:sp>
        <p:nvSpPr>
          <p:cNvPr id="9" name="Text 7"/>
          <p:cNvSpPr/>
          <p:nvPr/>
        </p:nvSpPr>
        <p:spPr>
          <a:xfrm>
            <a:off x="960120" y="2834640"/>
            <a:ext cx="3383280" cy="1737360"/>
          </a:xfrm>
          <a:prstGeom prst="rect">
            <a:avLst/>
          </a:prstGeom>
          <a:noFill/>
          <a:ln/>
        </p:spPr>
        <p:txBody>
          <a:bodyPr wrap="square" lIns="0" tIns="0" rIns="0" bIns="0" rtlCol="0" anchor="ctr"/>
          <a:lstStyle/>
          <a:p>
            <a:pPr indent="0" marL="0">
              <a:buNone/>
            </a:pPr>
            <a:r>
              <a:rPr lang="en-US" sz="1050" dirty="0">
                <a:solidFill>
                  <a:srgbClr val="BBBBBB"/>
                </a:solidFill>
                <a:latin typeface="Calibri" pitchFamily="34" charset="0"/>
                <a:ea typeface="Calibri" pitchFamily="34" charset="-122"/>
                <a:cs typeface="Calibri" pitchFamily="34" charset="-120"/>
              </a:rPr>
              <a:t>We build the intelligence layer that Indian agriculture has needed for a decade. Three states under contract. A claims officer in Raipur makes a decision in twenty minutes that used to take three weeks. A farmer in Bastar gets paid for a loss that actually happened, not one that was politically convenient. We run a durable, profitable company from Indore — small team, real impact, reasonable lives.</a:t>
            </a:r>
            <a:endParaRPr lang="en-US" sz="1050" dirty="0"/>
          </a:p>
        </p:txBody>
      </p:sp>
      <p:sp>
        <p:nvSpPr>
          <p:cNvPr id="10" name="Shape 8"/>
          <p:cNvSpPr/>
          <p:nvPr/>
        </p:nvSpPr>
        <p:spPr>
          <a:xfrm>
            <a:off x="4846320" y="2331720"/>
            <a:ext cx="3931920" cy="2377440"/>
          </a:xfrm>
          <a:prstGeom prst="rect">
            <a:avLst/>
          </a:prstGeom>
          <a:solidFill>
            <a:srgbClr val="2E3033"/>
          </a:solidFill>
          <a:ln/>
        </p:spPr>
      </p:sp>
      <p:sp>
        <p:nvSpPr>
          <p:cNvPr id="11" name="Shape 9"/>
          <p:cNvSpPr/>
          <p:nvPr/>
        </p:nvSpPr>
        <p:spPr>
          <a:xfrm>
            <a:off x="4846320" y="2331720"/>
            <a:ext cx="3931920" cy="54864"/>
          </a:xfrm>
          <a:prstGeom prst="rect">
            <a:avLst/>
          </a:prstGeom>
          <a:solidFill>
            <a:srgbClr val="C4703F"/>
          </a:solidFill>
          <a:ln/>
        </p:spPr>
      </p:sp>
      <p:sp>
        <p:nvSpPr>
          <p:cNvPr id="12" name="Text 10"/>
          <p:cNvSpPr/>
          <p:nvPr/>
        </p:nvSpPr>
        <p:spPr>
          <a:xfrm>
            <a:off x="5074920" y="2468880"/>
            <a:ext cx="3474720" cy="274320"/>
          </a:xfrm>
          <a:prstGeom prst="rect">
            <a:avLst/>
          </a:prstGeom>
          <a:noFill/>
          <a:ln/>
        </p:spPr>
        <p:txBody>
          <a:bodyPr wrap="square" lIns="0" tIns="0" rIns="0" bIns="0" rtlCol="0" anchor="ctr"/>
          <a:lstStyle/>
          <a:p>
            <a:pPr indent="0" marL="0">
              <a:buNone/>
            </a:pPr>
            <a:r>
              <a:rPr lang="en-US" sz="1300" b="1" dirty="0">
                <a:solidFill>
                  <a:srgbClr val="C4703F"/>
                </a:solidFill>
                <a:latin typeface="Calibri" pitchFamily="34" charset="0"/>
                <a:ea typeface="Calibri" pitchFamily="34" charset="-122"/>
                <a:cs typeface="Calibri" pitchFamily="34" charset="-120"/>
              </a:rPr>
              <a:t>The worst case</a:t>
            </a:r>
            <a:endParaRPr lang="en-US" sz="1300" dirty="0"/>
          </a:p>
        </p:txBody>
      </p:sp>
      <p:sp>
        <p:nvSpPr>
          <p:cNvPr id="13" name="Text 11"/>
          <p:cNvSpPr/>
          <p:nvPr/>
        </p:nvSpPr>
        <p:spPr>
          <a:xfrm>
            <a:off x="5074920" y="2834640"/>
            <a:ext cx="3474720" cy="1737360"/>
          </a:xfrm>
          <a:prstGeom prst="rect">
            <a:avLst/>
          </a:prstGeom>
          <a:noFill/>
          <a:ln/>
        </p:spPr>
        <p:txBody>
          <a:bodyPr wrap="square" lIns="0" tIns="0" rIns="0" bIns="0" rtlCol="0" anchor="ctr"/>
          <a:lstStyle/>
          <a:p>
            <a:pPr indent="0" marL="0">
              <a:buNone/>
            </a:pPr>
            <a:r>
              <a:rPr lang="en-US" sz="1050" dirty="0">
                <a:solidFill>
                  <a:srgbClr val="BBBBBB"/>
                </a:solidFill>
                <a:latin typeface="Calibri" pitchFamily="34" charset="0"/>
                <a:ea typeface="Calibri" pitchFamily="34" charset="-122"/>
                <a:cs typeface="Calibri" pitchFamily="34" charset="-120"/>
              </a:rPr>
              <a:t>We spend eighteen months chasing a state contract that changes hands with the next election. The demo impresses everyone, the MoU gets signed, the invoice never clears. We've built something good that no one is paying for. But even then — the demo is a portfolio piece, the research is publishable, the relationships are real, and we've answered the question instead of wondering about it.</a:t>
            </a:r>
            <a:endParaRPr lang="en-US" sz="1050" dirty="0"/>
          </a:p>
        </p:txBody>
      </p:sp>
      <p:sp>
        <p:nvSpPr>
          <p:cNvPr id="14" name="Shape 12"/>
          <p:cNvSpPr/>
          <p:nvPr/>
        </p:nvSpPr>
        <p:spPr>
          <a:xfrm>
            <a:off x="731520" y="4800600"/>
            <a:ext cx="8001000" cy="54864"/>
          </a:xfrm>
          <a:prstGeom prst="rect">
            <a:avLst/>
          </a:prstGeom>
          <a:solidFill>
            <a:srgbClr val="C4703F"/>
          </a:solidFill>
          <a:ln/>
        </p:spPr>
      </p:sp>
      <p:sp>
        <p:nvSpPr>
          <p:cNvPr id="15" name="Text 13"/>
          <p:cNvSpPr/>
          <p:nvPr/>
        </p:nvSpPr>
        <p:spPr>
          <a:xfrm>
            <a:off x="731520" y="4864608"/>
            <a:ext cx="8001000" cy="228600"/>
          </a:xfrm>
          <a:prstGeom prst="rect">
            <a:avLst/>
          </a:prstGeom>
          <a:noFill/>
          <a:ln/>
        </p:spPr>
        <p:txBody>
          <a:bodyPr wrap="square" lIns="0" tIns="0" rIns="0" bIns="0" rtlCol="0" anchor="ctr"/>
          <a:lstStyle/>
          <a:p>
            <a:pPr indent="0" marL="0">
              <a:buNone/>
            </a:pPr>
            <a:r>
              <a:rPr lang="en-US" sz="1100" i="1" dirty="0">
                <a:solidFill>
                  <a:srgbClr val="AAAAAA"/>
                </a:solidFill>
                <a:latin typeface="Georgia" pitchFamily="34" charset="0"/>
                <a:ea typeface="Georgia" pitchFamily="34" charset="-122"/>
                <a:cs typeface="Georgia" pitchFamily="34" charset="-120"/>
              </a:rPr>
              <a:t>Either way, we'll know. That's worth more than not trying.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36576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THE ECONOMICS</a:t>
            </a:r>
            <a:endParaRPr lang="en-US" sz="1100" dirty="0"/>
          </a:p>
        </p:txBody>
      </p:sp>
      <p:sp>
        <p:nvSpPr>
          <p:cNvPr id="4" name="Text 2"/>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2B2D2F"/>
                </a:solidFill>
                <a:latin typeface="Georgia" pitchFamily="34" charset="0"/>
                <a:ea typeface="Georgia" pitchFamily="34" charset="-122"/>
                <a:cs typeface="Georgia" pitchFamily="34" charset="-120"/>
              </a:rPr>
              <a:t>Where the money is — and isn't</a:t>
            </a:r>
            <a:endParaRPr lang="en-US" sz="2800" dirty="0"/>
          </a:p>
        </p:txBody>
      </p:sp>
      <p:sp>
        <p:nvSpPr>
          <p:cNvPr id="5" name="Shape 3"/>
          <p:cNvSpPr/>
          <p:nvPr/>
        </p:nvSpPr>
        <p:spPr>
          <a:xfrm>
            <a:off x="731520" y="1417320"/>
            <a:ext cx="3840480" cy="324612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6" name="Shape 4"/>
          <p:cNvSpPr/>
          <p:nvPr/>
        </p:nvSpPr>
        <p:spPr>
          <a:xfrm>
            <a:off x="731520" y="1417320"/>
            <a:ext cx="3840480" cy="54864"/>
          </a:xfrm>
          <a:prstGeom prst="rect">
            <a:avLst/>
          </a:prstGeom>
          <a:solidFill>
            <a:srgbClr val="C4703F"/>
          </a:solidFill>
          <a:ln/>
        </p:spPr>
      </p:sp>
      <p:sp>
        <p:nvSpPr>
          <p:cNvPr id="7" name="Text 5"/>
          <p:cNvSpPr/>
          <p:nvPr/>
        </p:nvSpPr>
        <p:spPr>
          <a:xfrm>
            <a:off x="960120" y="1600200"/>
            <a:ext cx="3383280" cy="274320"/>
          </a:xfrm>
          <a:prstGeom prst="rect">
            <a:avLst/>
          </a:prstGeom>
          <a:noFill/>
          <a:ln/>
        </p:spPr>
        <p:txBody>
          <a:bodyPr wrap="square" lIns="0" tIns="0" rIns="0" bIns="0" rtlCol="0" anchor="ctr"/>
          <a:lstStyle/>
          <a:p>
            <a:pPr indent="0" marL="0">
              <a:buNone/>
            </a:pPr>
            <a:r>
              <a:rPr lang="en-US" sz="1300" b="1" dirty="0">
                <a:solidFill>
                  <a:srgbClr val="2B2D2F"/>
                </a:solidFill>
                <a:latin typeface="Calibri" pitchFamily="34" charset="0"/>
                <a:ea typeface="Calibri" pitchFamily="34" charset="-122"/>
                <a:cs typeface="Calibri" pitchFamily="34" charset="-120"/>
              </a:rPr>
              <a:t>One state contract</a:t>
            </a:r>
            <a:endParaRPr lang="en-US" sz="1300" dirty="0"/>
          </a:p>
        </p:txBody>
      </p:sp>
      <p:sp>
        <p:nvSpPr>
          <p:cNvPr id="8" name="Text 6"/>
          <p:cNvSpPr/>
          <p:nvPr/>
        </p:nvSpPr>
        <p:spPr>
          <a:xfrm>
            <a:off x="960120" y="2011680"/>
            <a:ext cx="1325880" cy="201168"/>
          </a:xfrm>
          <a:prstGeom prst="rect">
            <a:avLst/>
          </a:prstGeom>
          <a:noFill/>
          <a:ln/>
        </p:spPr>
        <p:txBody>
          <a:bodyPr wrap="square" lIns="0" tIns="0" rIns="0" bIns="0" rtlCol="0" anchor="ctr"/>
          <a:lstStyle/>
          <a:p>
            <a:pPr indent="0" marL="0">
              <a:buNone/>
            </a:pPr>
            <a:r>
              <a:rPr lang="en-US" sz="950" dirty="0">
                <a:solidFill>
                  <a:srgbClr val="7A7A7A"/>
                </a:solidFill>
                <a:latin typeface="Calibri" pitchFamily="34" charset="0"/>
                <a:ea typeface="Calibri" pitchFamily="34" charset="-122"/>
                <a:cs typeface="Calibri" pitchFamily="34" charset="-120"/>
              </a:rPr>
              <a:t>Contract size</a:t>
            </a:r>
            <a:endParaRPr lang="en-US" sz="950" dirty="0"/>
          </a:p>
        </p:txBody>
      </p:sp>
      <p:sp>
        <p:nvSpPr>
          <p:cNvPr id="9" name="Text 7"/>
          <p:cNvSpPr/>
          <p:nvPr/>
        </p:nvSpPr>
        <p:spPr>
          <a:xfrm>
            <a:off x="2286000" y="2011680"/>
            <a:ext cx="2103120" cy="201168"/>
          </a:xfrm>
          <a:prstGeom prst="rect">
            <a:avLst/>
          </a:prstGeom>
          <a:noFill/>
          <a:ln/>
        </p:spPr>
        <p:txBody>
          <a:bodyPr wrap="square" lIns="0" tIns="0" rIns="0" bIns="0" rtlCol="0" anchor="ctr"/>
          <a:lstStyle/>
          <a:p>
            <a:pPr indent="0" marL="0">
              <a:buNone/>
            </a:pPr>
            <a:r>
              <a:rPr lang="en-US" sz="1050" b="1" dirty="0">
                <a:solidFill>
                  <a:srgbClr val="2B2D2F"/>
                </a:solidFill>
                <a:latin typeface="Calibri" pitchFamily="34" charset="0"/>
                <a:ea typeface="Calibri" pitchFamily="34" charset="-122"/>
                <a:cs typeface="Calibri" pitchFamily="34" charset="-120"/>
              </a:rPr>
              <a:t>20–80 cr / 3–5 yrs</a:t>
            </a:r>
            <a:endParaRPr lang="en-US" sz="1050" dirty="0"/>
          </a:p>
        </p:txBody>
      </p:sp>
      <p:sp>
        <p:nvSpPr>
          <p:cNvPr id="10" name="Text 8"/>
          <p:cNvSpPr/>
          <p:nvPr/>
        </p:nvSpPr>
        <p:spPr>
          <a:xfrm>
            <a:off x="960120" y="2231136"/>
            <a:ext cx="3383280" cy="256032"/>
          </a:xfrm>
          <a:prstGeom prst="rect">
            <a:avLst/>
          </a:prstGeom>
          <a:noFill/>
          <a:ln/>
        </p:spPr>
        <p:txBody>
          <a:bodyPr wrap="square" lIns="0" tIns="0" rIns="0" bIns="0" rtlCol="0" anchor="ctr"/>
          <a:lstStyle/>
          <a:p>
            <a:pPr indent="0" marL="0">
              <a:buNone/>
            </a:pPr>
            <a:r>
              <a:rPr lang="en-US" sz="850" i="1" dirty="0">
                <a:solidFill>
                  <a:srgbClr val="7A7A7A"/>
                </a:solidFill>
                <a:latin typeface="Calibri" pitchFamily="34" charset="0"/>
                <a:ea typeface="Calibri" pitchFamily="34" charset="-122"/>
                <a:cs typeface="Calibri" pitchFamily="34" charset="-120"/>
              </a:rPr>
              <a:t>Chhattisgarh-shaped DAC + WebGIS + crop intelligence</a:t>
            </a:r>
            <a:endParaRPr lang="en-US" sz="850" dirty="0"/>
          </a:p>
        </p:txBody>
      </p:sp>
      <p:sp>
        <p:nvSpPr>
          <p:cNvPr id="11" name="Text 9"/>
          <p:cNvSpPr/>
          <p:nvPr/>
        </p:nvSpPr>
        <p:spPr>
          <a:xfrm>
            <a:off x="960120" y="2670048"/>
            <a:ext cx="1325880" cy="201168"/>
          </a:xfrm>
          <a:prstGeom prst="rect">
            <a:avLst/>
          </a:prstGeom>
          <a:noFill/>
          <a:ln/>
        </p:spPr>
        <p:txBody>
          <a:bodyPr wrap="square" lIns="0" tIns="0" rIns="0" bIns="0" rtlCol="0" anchor="ctr"/>
          <a:lstStyle/>
          <a:p>
            <a:pPr indent="0" marL="0">
              <a:buNone/>
            </a:pPr>
            <a:r>
              <a:rPr lang="en-US" sz="950" dirty="0">
                <a:solidFill>
                  <a:srgbClr val="7A7A7A"/>
                </a:solidFill>
                <a:latin typeface="Calibri" pitchFamily="34" charset="0"/>
                <a:ea typeface="Calibri" pitchFamily="34" charset="-122"/>
                <a:cs typeface="Calibri" pitchFamily="34" charset="-120"/>
              </a:rPr>
              <a:t>GT ops alone</a:t>
            </a:r>
            <a:endParaRPr lang="en-US" sz="950" dirty="0"/>
          </a:p>
        </p:txBody>
      </p:sp>
      <p:sp>
        <p:nvSpPr>
          <p:cNvPr id="12" name="Text 10"/>
          <p:cNvSpPr/>
          <p:nvPr/>
        </p:nvSpPr>
        <p:spPr>
          <a:xfrm>
            <a:off x="2286000" y="2670048"/>
            <a:ext cx="2103120" cy="201168"/>
          </a:xfrm>
          <a:prstGeom prst="rect">
            <a:avLst/>
          </a:prstGeom>
          <a:noFill/>
          <a:ln/>
        </p:spPr>
        <p:txBody>
          <a:bodyPr wrap="square" lIns="0" tIns="0" rIns="0" bIns="0" rtlCol="0" anchor="ctr"/>
          <a:lstStyle/>
          <a:p>
            <a:pPr indent="0" marL="0">
              <a:buNone/>
            </a:pPr>
            <a:r>
              <a:rPr lang="en-US" sz="1050" b="1" dirty="0">
                <a:solidFill>
                  <a:srgbClr val="2B2D2F"/>
                </a:solidFill>
                <a:latin typeface="Calibri" pitchFamily="34" charset="0"/>
                <a:ea typeface="Calibri" pitchFamily="34" charset="-122"/>
                <a:cs typeface="Calibri" pitchFamily="34" charset="-120"/>
              </a:rPr>
              <a:t>70L – 2.7 cr / yr / state</a:t>
            </a:r>
            <a:endParaRPr lang="en-US" sz="1050" dirty="0"/>
          </a:p>
        </p:txBody>
      </p:sp>
      <p:sp>
        <p:nvSpPr>
          <p:cNvPr id="13" name="Text 11"/>
          <p:cNvSpPr/>
          <p:nvPr/>
        </p:nvSpPr>
        <p:spPr>
          <a:xfrm>
            <a:off x="960120" y="2889504"/>
            <a:ext cx="3383280" cy="256032"/>
          </a:xfrm>
          <a:prstGeom prst="rect">
            <a:avLst/>
          </a:prstGeom>
          <a:noFill/>
          <a:ln/>
        </p:spPr>
        <p:txBody>
          <a:bodyPr wrap="square" lIns="0" tIns="0" rIns="0" bIns="0" rtlCol="0" anchor="ctr"/>
          <a:lstStyle/>
          <a:p>
            <a:pPr indent="0" marL="0">
              <a:buNone/>
            </a:pPr>
            <a:r>
              <a:rPr lang="en-US" sz="850" i="1" dirty="0">
                <a:solidFill>
                  <a:srgbClr val="7A7A7A"/>
                </a:solidFill>
                <a:latin typeface="Calibri" pitchFamily="34" charset="0"/>
                <a:ea typeface="Calibri" pitchFamily="34" charset="-122"/>
                <a:cs typeface="Calibri" pitchFamily="34" charset="-120"/>
              </a:rPr>
              <a:t>3–6K ground-truth points per season, three seasons</a:t>
            </a:r>
            <a:endParaRPr lang="en-US" sz="850" dirty="0"/>
          </a:p>
        </p:txBody>
      </p:sp>
      <p:sp>
        <p:nvSpPr>
          <p:cNvPr id="14" name="Text 12"/>
          <p:cNvSpPr/>
          <p:nvPr/>
        </p:nvSpPr>
        <p:spPr>
          <a:xfrm>
            <a:off x="960120" y="3328416"/>
            <a:ext cx="1325880" cy="201168"/>
          </a:xfrm>
          <a:prstGeom prst="rect">
            <a:avLst/>
          </a:prstGeom>
          <a:noFill/>
          <a:ln/>
        </p:spPr>
        <p:txBody>
          <a:bodyPr wrap="square" lIns="0" tIns="0" rIns="0" bIns="0" rtlCol="0" anchor="ctr"/>
          <a:lstStyle/>
          <a:p>
            <a:pPr indent="0" marL="0">
              <a:buNone/>
            </a:pPr>
            <a:r>
              <a:rPr lang="en-US" sz="950" dirty="0">
                <a:solidFill>
                  <a:srgbClr val="7A7A7A"/>
                </a:solidFill>
                <a:latin typeface="Calibri" pitchFamily="34" charset="0"/>
                <a:ea typeface="Calibri" pitchFamily="34" charset="-122"/>
                <a:cs typeface="Calibri" pitchFamily="34" charset="-120"/>
              </a:rPr>
              <a:t>Platform build</a:t>
            </a:r>
            <a:endParaRPr lang="en-US" sz="950" dirty="0"/>
          </a:p>
        </p:txBody>
      </p:sp>
      <p:sp>
        <p:nvSpPr>
          <p:cNvPr id="15" name="Text 13"/>
          <p:cNvSpPr/>
          <p:nvPr/>
        </p:nvSpPr>
        <p:spPr>
          <a:xfrm>
            <a:off x="2286000" y="3328416"/>
            <a:ext cx="2103120" cy="201168"/>
          </a:xfrm>
          <a:prstGeom prst="rect">
            <a:avLst/>
          </a:prstGeom>
          <a:noFill/>
          <a:ln/>
        </p:spPr>
        <p:txBody>
          <a:bodyPr wrap="square" lIns="0" tIns="0" rIns="0" bIns="0" rtlCol="0" anchor="ctr"/>
          <a:lstStyle/>
          <a:p>
            <a:pPr indent="0" marL="0">
              <a:buNone/>
            </a:pPr>
            <a:r>
              <a:rPr lang="en-US" sz="1050" b="1" dirty="0">
                <a:solidFill>
                  <a:srgbClr val="2B2D2F"/>
                </a:solidFill>
                <a:latin typeface="Calibri" pitchFamily="34" charset="0"/>
                <a:ea typeface="Calibri" pitchFamily="34" charset="-122"/>
                <a:cs typeface="Calibri" pitchFamily="34" charset="-120"/>
              </a:rPr>
              <a:t>2.5–4 cr in salary</a:t>
            </a:r>
            <a:endParaRPr lang="en-US" sz="1050" dirty="0"/>
          </a:p>
        </p:txBody>
      </p:sp>
      <p:sp>
        <p:nvSpPr>
          <p:cNvPr id="16" name="Text 14"/>
          <p:cNvSpPr/>
          <p:nvPr/>
        </p:nvSpPr>
        <p:spPr>
          <a:xfrm>
            <a:off x="960120" y="3547872"/>
            <a:ext cx="3383280" cy="256032"/>
          </a:xfrm>
          <a:prstGeom prst="rect">
            <a:avLst/>
          </a:prstGeom>
          <a:noFill/>
          <a:ln/>
        </p:spPr>
        <p:txBody>
          <a:bodyPr wrap="square" lIns="0" tIns="0" rIns="0" bIns="0" rtlCol="0" anchor="ctr"/>
          <a:lstStyle/>
          <a:p>
            <a:pPr indent="0" marL="0">
              <a:buNone/>
            </a:pPr>
            <a:r>
              <a:rPr lang="en-US" sz="850" i="1" dirty="0">
                <a:solidFill>
                  <a:srgbClr val="7A7A7A"/>
                </a:solidFill>
                <a:latin typeface="Calibri" pitchFamily="34" charset="0"/>
                <a:ea typeface="Calibri" pitchFamily="34" charset="-122"/>
                <a:cs typeface="Calibri" pitchFamily="34" charset="-120"/>
              </a:rPr>
              <a:t>6–10 engineer-years to production</a:t>
            </a:r>
            <a:endParaRPr lang="en-US" sz="850" dirty="0"/>
          </a:p>
        </p:txBody>
      </p:sp>
      <p:sp>
        <p:nvSpPr>
          <p:cNvPr id="17" name="Text 15"/>
          <p:cNvSpPr/>
          <p:nvPr/>
        </p:nvSpPr>
        <p:spPr>
          <a:xfrm>
            <a:off x="960120" y="3986784"/>
            <a:ext cx="1325880" cy="201168"/>
          </a:xfrm>
          <a:prstGeom prst="rect">
            <a:avLst/>
          </a:prstGeom>
          <a:noFill/>
          <a:ln/>
        </p:spPr>
        <p:txBody>
          <a:bodyPr wrap="square" lIns="0" tIns="0" rIns="0" bIns="0" rtlCol="0" anchor="ctr"/>
          <a:lstStyle/>
          <a:p>
            <a:pPr indent="0" marL="0">
              <a:buNone/>
            </a:pPr>
            <a:r>
              <a:rPr lang="en-US" sz="950" dirty="0">
                <a:solidFill>
                  <a:srgbClr val="7A7A7A"/>
                </a:solidFill>
                <a:latin typeface="Calibri" pitchFamily="34" charset="0"/>
                <a:ea typeface="Calibri" pitchFamily="34" charset="-122"/>
                <a:cs typeface="Calibri" pitchFamily="34" charset="-120"/>
              </a:rPr>
              <a:t>The killer</a:t>
            </a:r>
            <a:endParaRPr lang="en-US" sz="950" dirty="0"/>
          </a:p>
        </p:txBody>
      </p:sp>
      <p:sp>
        <p:nvSpPr>
          <p:cNvPr id="18" name="Text 16"/>
          <p:cNvSpPr/>
          <p:nvPr/>
        </p:nvSpPr>
        <p:spPr>
          <a:xfrm>
            <a:off x="2286000" y="3986784"/>
            <a:ext cx="2103120" cy="201168"/>
          </a:xfrm>
          <a:prstGeom prst="rect">
            <a:avLst/>
          </a:prstGeom>
          <a:noFill/>
          <a:ln/>
        </p:spPr>
        <p:txBody>
          <a:bodyPr wrap="square" lIns="0" tIns="0" rIns="0" bIns="0" rtlCol="0" anchor="ctr"/>
          <a:lstStyle/>
          <a:p>
            <a:pPr indent="0" marL="0">
              <a:buNone/>
            </a:pPr>
            <a:r>
              <a:rPr lang="en-US" sz="1050" b="1" dirty="0">
                <a:solidFill>
                  <a:srgbClr val="2B2D2F"/>
                </a:solidFill>
                <a:latin typeface="Calibri" pitchFamily="34" charset="0"/>
                <a:ea typeface="Calibri" pitchFamily="34" charset="-122"/>
                <a:cs typeface="Calibri" pitchFamily="34" charset="-120"/>
              </a:rPr>
              <a:t>18-mo sales cycle</a:t>
            </a:r>
            <a:endParaRPr lang="en-US" sz="1050" dirty="0"/>
          </a:p>
        </p:txBody>
      </p:sp>
      <p:sp>
        <p:nvSpPr>
          <p:cNvPr id="19" name="Text 17"/>
          <p:cNvSpPr/>
          <p:nvPr/>
        </p:nvSpPr>
        <p:spPr>
          <a:xfrm>
            <a:off x="960120" y="4206240"/>
            <a:ext cx="3383280" cy="256032"/>
          </a:xfrm>
          <a:prstGeom prst="rect">
            <a:avLst/>
          </a:prstGeom>
          <a:noFill/>
          <a:ln/>
        </p:spPr>
        <p:txBody>
          <a:bodyPr wrap="square" lIns="0" tIns="0" rIns="0" bIns="0" rtlCol="0" anchor="ctr"/>
          <a:lstStyle/>
          <a:p>
            <a:pPr indent="0" marL="0">
              <a:buNone/>
            </a:pPr>
            <a:r>
              <a:rPr lang="en-US" sz="850" i="1" dirty="0">
                <a:solidFill>
                  <a:srgbClr val="7A7A7A"/>
                </a:solidFill>
                <a:latin typeface="Calibri" pitchFamily="34" charset="0"/>
                <a:ea typeface="Calibri" pitchFamily="34" charset="-122"/>
                <a:cs typeface="Calibri" pitchFamily="34" charset="-120"/>
              </a:rPr>
              <a:t>Burning ~50L/month, zero revenue until first cheque</a:t>
            </a:r>
            <a:endParaRPr lang="en-US" sz="850" dirty="0"/>
          </a:p>
        </p:txBody>
      </p:sp>
      <p:sp>
        <p:nvSpPr>
          <p:cNvPr id="20" name="Shape 18"/>
          <p:cNvSpPr/>
          <p:nvPr/>
        </p:nvSpPr>
        <p:spPr>
          <a:xfrm>
            <a:off x="4846320" y="1417320"/>
            <a:ext cx="3931920" cy="324612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21" name="Shape 19"/>
          <p:cNvSpPr/>
          <p:nvPr/>
        </p:nvSpPr>
        <p:spPr>
          <a:xfrm>
            <a:off x="4846320" y="1417320"/>
            <a:ext cx="3931920" cy="54864"/>
          </a:xfrm>
          <a:prstGeom prst="rect">
            <a:avLst/>
          </a:prstGeom>
          <a:solidFill>
            <a:srgbClr val="4A7C59"/>
          </a:solidFill>
          <a:ln/>
        </p:spPr>
      </p:sp>
      <p:sp>
        <p:nvSpPr>
          <p:cNvPr id="22" name="Text 20"/>
          <p:cNvSpPr/>
          <p:nvPr/>
        </p:nvSpPr>
        <p:spPr>
          <a:xfrm>
            <a:off x="5074920" y="1600200"/>
            <a:ext cx="3474720" cy="274320"/>
          </a:xfrm>
          <a:prstGeom prst="rect">
            <a:avLst/>
          </a:prstGeom>
          <a:noFill/>
          <a:ln/>
        </p:spPr>
        <p:txBody>
          <a:bodyPr wrap="square" lIns="0" tIns="0" rIns="0" bIns="0" rtlCol="0" anchor="ctr"/>
          <a:lstStyle/>
          <a:p>
            <a:pPr indent="0" marL="0">
              <a:buNone/>
            </a:pPr>
            <a:r>
              <a:rPr lang="en-US" sz="1300" b="1" dirty="0">
                <a:solidFill>
                  <a:srgbClr val="2B2D2F"/>
                </a:solidFill>
                <a:latin typeface="Calibri" pitchFamily="34" charset="0"/>
                <a:ea typeface="Calibri" pitchFamily="34" charset="-122"/>
                <a:cs typeface="Calibri" pitchFamily="34" charset="-120"/>
              </a:rPr>
              <a:t>Margins fork by shape</a:t>
            </a:r>
            <a:endParaRPr lang="en-US" sz="1300" dirty="0"/>
          </a:p>
        </p:txBody>
      </p:sp>
      <p:sp>
        <p:nvSpPr>
          <p:cNvPr id="23" name="Text 21"/>
          <p:cNvSpPr/>
          <p:nvPr/>
        </p:nvSpPr>
        <p:spPr>
          <a:xfrm>
            <a:off x="5074920" y="2011680"/>
            <a:ext cx="1645920" cy="228600"/>
          </a:xfrm>
          <a:prstGeom prst="rect">
            <a:avLst/>
          </a:prstGeom>
          <a:noFill/>
          <a:ln/>
        </p:spPr>
        <p:txBody>
          <a:bodyPr wrap="square" lIns="0" tIns="0" rIns="0" bIns="0" rtlCol="0" anchor="ctr"/>
          <a:lstStyle/>
          <a:p>
            <a:pPr indent="0" marL="0">
              <a:buNone/>
            </a:pPr>
            <a:r>
              <a:rPr lang="en-US" sz="900" b="1" dirty="0">
                <a:solidFill>
                  <a:srgbClr val="7A7A7A"/>
                </a:solidFill>
                <a:latin typeface="Calibri" pitchFamily="34" charset="0"/>
                <a:ea typeface="Calibri" pitchFamily="34" charset="-122"/>
                <a:cs typeface="Calibri" pitchFamily="34" charset="-120"/>
              </a:rPr>
              <a:t>Shape</a:t>
            </a:r>
            <a:endParaRPr lang="en-US" sz="900" dirty="0"/>
          </a:p>
        </p:txBody>
      </p:sp>
      <p:sp>
        <p:nvSpPr>
          <p:cNvPr id="24" name="Text 22"/>
          <p:cNvSpPr/>
          <p:nvPr/>
        </p:nvSpPr>
        <p:spPr>
          <a:xfrm>
            <a:off x="6720840" y="2011680"/>
            <a:ext cx="822960" cy="228600"/>
          </a:xfrm>
          <a:prstGeom prst="rect">
            <a:avLst/>
          </a:prstGeom>
          <a:noFill/>
          <a:ln/>
        </p:spPr>
        <p:txBody>
          <a:bodyPr wrap="square" lIns="0" tIns="0" rIns="0" bIns="0" rtlCol="0" anchor="ctr"/>
          <a:lstStyle/>
          <a:p>
            <a:pPr indent="0" marL="0">
              <a:buNone/>
            </a:pPr>
            <a:r>
              <a:rPr lang="en-US" sz="900" b="1" dirty="0">
                <a:solidFill>
                  <a:srgbClr val="7A7A7A"/>
                </a:solidFill>
                <a:latin typeface="Calibri" pitchFamily="34" charset="0"/>
                <a:ea typeface="Calibri" pitchFamily="34" charset="-122"/>
                <a:cs typeface="Calibri" pitchFamily="34" charset="-120"/>
              </a:rPr>
              <a:t>Margin</a:t>
            </a:r>
            <a:endParaRPr lang="en-US" sz="900" dirty="0"/>
          </a:p>
        </p:txBody>
      </p:sp>
      <p:sp>
        <p:nvSpPr>
          <p:cNvPr id="25" name="Text 23"/>
          <p:cNvSpPr/>
          <p:nvPr/>
        </p:nvSpPr>
        <p:spPr>
          <a:xfrm>
            <a:off x="7543800" y="2011680"/>
            <a:ext cx="1005840" cy="228600"/>
          </a:xfrm>
          <a:prstGeom prst="rect">
            <a:avLst/>
          </a:prstGeom>
          <a:noFill/>
          <a:ln/>
        </p:spPr>
        <p:txBody>
          <a:bodyPr wrap="square" lIns="0" tIns="0" rIns="0" bIns="0" rtlCol="0" anchor="ctr"/>
          <a:lstStyle/>
          <a:p>
            <a:pPr indent="0" marL="0">
              <a:buNone/>
            </a:pPr>
            <a:r>
              <a:rPr lang="en-US" sz="900" b="1" dirty="0">
                <a:solidFill>
                  <a:srgbClr val="7A7A7A"/>
                </a:solidFill>
                <a:latin typeface="Calibri" pitchFamily="34" charset="0"/>
                <a:ea typeface="Calibri" pitchFamily="34" charset="-122"/>
                <a:cs typeface="Calibri" pitchFamily="34" charset="-120"/>
              </a:rPr>
              <a:t>To revenue</a:t>
            </a:r>
            <a:endParaRPr lang="en-US" sz="900" dirty="0"/>
          </a:p>
        </p:txBody>
      </p:sp>
      <p:sp>
        <p:nvSpPr>
          <p:cNvPr id="26" name="Text 24"/>
          <p:cNvSpPr/>
          <p:nvPr/>
        </p:nvSpPr>
        <p:spPr>
          <a:xfrm>
            <a:off x="5074920" y="2331720"/>
            <a:ext cx="164592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State govt contract</a:t>
            </a:r>
            <a:endParaRPr lang="en-US" sz="1000" dirty="0"/>
          </a:p>
        </p:txBody>
      </p:sp>
      <p:sp>
        <p:nvSpPr>
          <p:cNvPr id="27" name="Text 25"/>
          <p:cNvSpPr/>
          <p:nvPr/>
        </p:nvSpPr>
        <p:spPr>
          <a:xfrm>
            <a:off x="6720840" y="2331720"/>
            <a:ext cx="82296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35–50%</a:t>
            </a:r>
            <a:endParaRPr lang="en-US" sz="1000" dirty="0"/>
          </a:p>
        </p:txBody>
      </p:sp>
      <p:sp>
        <p:nvSpPr>
          <p:cNvPr id="28" name="Text 26"/>
          <p:cNvSpPr/>
          <p:nvPr/>
        </p:nvSpPr>
        <p:spPr>
          <a:xfrm>
            <a:off x="7543800" y="2331720"/>
            <a:ext cx="100584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18–24 mo</a:t>
            </a:r>
            <a:endParaRPr lang="en-US" sz="1000" dirty="0"/>
          </a:p>
        </p:txBody>
      </p:sp>
      <p:sp>
        <p:nvSpPr>
          <p:cNvPr id="29" name="Shape 27"/>
          <p:cNvSpPr/>
          <p:nvPr/>
        </p:nvSpPr>
        <p:spPr>
          <a:xfrm>
            <a:off x="4983480" y="2715768"/>
            <a:ext cx="3703320" cy="384048"/>
          </a:xfrm>
          <a:prstGeom prst="rect">
            <a:avLst/>
          </a:prstGeom>
          <a:solidFill>
            <a:srgbClr val="F5F0E0"/>
          </a:solidFill>
          <a:ln/>
        </p:spPr>
      </p:sp>
      <p:sp>
        <p:nvSpPr>
          <p:cNvPr id="30" name="Text 28"/>
          <p:cNvSpPr/>
          <p:nvPr/>
        </p:nvSpPr>
        <p:spPr>
          <a:xfrm>
            <a:off x="5074920" y="2743200"/>
            <a:ext cx="1645920" cy="320040"/>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License engine to SIs</a:t>
            </a:r>
            <a:endParaRPr lang="en-US" sz="1000" dirty="0"/>
          </a:p>
        </p:txBody>
      </p:sp>
      <p:sp>
        <p:nvSpPr>
          <p:cNvPr id="31" name="Text 29"/>
          <p:cNvSpPr/>
          <p:nvPr/>
        </p:nvSpPr>
        <p:spPr>
          <a:xfrm>
            <a:off x="6720840" y="2743200"/>
            <a:ext cx="822960" cy="320040"/>
          </a:xfrm>
          <a:prstGeom prst="rect">
            <a:avLst/>
          </a:prstGeom>
          <a:noFill/>
          <a:ln/>
        </p:spPr>
        <p:txBody>
          <a:bodyPr wrap="square" lIns="0" tIns="0" rIns="0" bIns="0" rtlCol="0" anchor="ctr"/>
          <a:lstStyle/>
          <a:p>
            <a:pPr indent="0" marL="0">
              <a:buNone/>
            </a:pPr>
            <a:r>
              <a:rPr lang="en-US" sz="1000" b="1" dirty="0">
                <a:solidFill>
                  <a:srgbClr val="C4703F"/>
                </a:solidFill>
                <a:latin typeface="Calibri" pitchFamily="34" charset="0"/>
                <a:ea typeface="Calibri" pitchFamily="34" charset="-122"/>
                <a:cs typeface="Calibri" pitchFamily="34" charset="-120"/>
              </a:rPr>
              <a:t>70–80%</a:t>
            </a:r>
            <a:endParaRPr lang="en-US" sz="1000" dirty="0"/>
          </a:p>
        </p:txBody>
      </p:sp>
      <p:sp>
        <p:nvSpPr>
          <p:cNvPr id="32" name="Text 30"/>
          <p:cNvSpPr/>
          <p:nvPr/>
        </p:nvSpPr>
        <p:spPr>
          <a:xfrm>
            <a:off x="7543800" y="2743200"/>
            <a:ext cx="1005840" cy="320040"/>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6–9 mo</a:t>
            </a:r>
            <a:endParaRPr lang="en-US" sz="1000" dirty="0"/>
          </a:p>
        </p:txBody>
      </p:sp>
      <p:sp>
        <p:nvSpPr>
          <p:cNvPr id="33" name="Text 31"/>
          <p:cNvSpPr/>
          <p:nvPr/>
        </p:nvSpPr>
        <p:spPr>
          <a:xfrm>
            <a:off x="5074920" y="3154680"/>
            <a:ext cx="164592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Commercial data feed</a:t>
            </a:r>
            <a:endParaRPr lang="en-US" sz="1000" dirty="0"/>
          </a:p>
        </p:txBody>
      </p:sp>
      <p:sp>
        <p:nvSpPr>
          <p:cNvPr id="34" name="Text 32"/>
          <p:cNvSpPr/>
          <p:nvPr/>
        </p:nvSpPr>
        <p:spPr>
          <a:xfrm>
            <a:off x="6720840" y="3154680"/>
            <a:ext cx="82296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75–85%</a:t>
            </a:r>
            <a:endParaRPr lang="en-US" sz="1000" dirty="0"/>
          </a:p>
        </p:txBody>
      </p:sp>
      <p:sp>
        <p:nvSpPr>
          <p:cNvPr id="35" name="Text 33"/>
          <p:cNvSpPr/>
          <p:nvPr/>
        </p:nvSpPr>
        <p:spPr>
          <a:xfrm>
            <a:off x="7543800" y="3154680"/>
            <a:ext cx="100584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9–15 mo</a:t>
            </a:r>
            <a:endParaRPr lang="en-US" sz="1000" dirty="0"/>
          </a:p>
        </p:txBody>
      </p:sp>
      <p:sp>
        <p:nvSpPr>
          <p:cNvPr id="36" name="Text 34"/>
          <p:cNvSpPr/>
          <p:nvPr/>
        </p:nvSpPr>
        <p:spPr>
          <a:xfrm>
            <a:off x="5074920" y="3566160"/>
            <a:ext cx="164592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Private agri SaaS</a:t>
            </a:r>
            <a:endParaRPr lang="en-US" sz="1000" dirty="0"/>
          </a:p>
        </p:txBody>
      </p:sp>
      <p:sp>
        <p:nvSpPr>
          <p:cNvPr id="37" name="Text 35"/>
          <p:cNvSpPr/>
          <p:nvPr/>
        </p:nvSpPr>
        <p:spPr>
          <a:xfrm>
            <a:off x="6720840" y="3566160"/>
            <a:ext cx="82296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60–70%</a:t>
            </a:r>
            <a:endParaRPr lang="en-US" sz="1000" dirty="0"/>
          </a:p>
        </p:txBody>
      </p:sp>
      <p:sp>
        <p:nvSpPr>
          <p:cNvPr id="38" name="Text 36"/>
          <p:cNvSpPr/>
          <p:nvPr/>
        </p:nvSpPr>
        <p:spPr>
          <a:xfrm>
            <a:off x="7543800" y="3566160"/>
            <a:ext cx="1005840" cy="320040"/>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12–18 mo</a:t>
            </a:r>
            <a:endParaRPr lang="en-US" sz="1000" dirty="0"/>
          </a:p>
        </p:txBody>
      </p:sp>
      <p:sp>
        <p:nvSpPr>
          <p:cNvPr id="39" name="Text 37"/>
          <p:cNvSpPr/>
          <p:nvPr/>
        </p:nvSpPr>
        <p:spPr>
          <a:xfrm>
            <a:off x="5074920" y="3977640"/>
            <a:ext cx="3474720" cy="548640"/>
          </a:xfrm>
          <a:prstGeom prst="rect">
            <a:avLst/>
          </a:prstGeom>
          <a:noFill/>
          <a:ln/>
        </p:spPr>
        <p:txBody>
          <a:bodyPr wrap="square" lIns="0" tIns="0" rIns="0" bIns="0" rtlCol="0" anchor="ctr"/>
          <a:lstStyle/>
          <a:p>
            <a:pPr indent="0" marL="0">
              <a:buNone/>
            </a:pPr>
            <a:r>
              <a:rPr lang="en-US" sz="950" i="1" dirty="0">
                <a:solidFill>
                  <a:srgbClr val="2B2D2F"/>
                </a:solidFill>
                <a:latin typeface="Calibri" pitchFamily="34" charset="0"/>
                <a:ea typeface="Calibri" pitchFamily="34" charset="-122"/>
                <a:cs typeface="Calibri" pitchFamily="34" charset="-120"/>
              </a:rPr>
              <a:t>The interesting number: 3 states licensed to SIs = 6–12 cr revenue, 75–85% margin, team of ~5 people, run from Indore. That math may be the actual business.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C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36576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THE BUILD</a:t>
            </a:r>
            <a:endParaRPr lang="en-US" sz="1100" dirty="0"/>
          </a:p>
        </p:txBody>
      </p:sp>
      <p:sp>
        <p:nvSpPr>
          <p:cNvPr id="4" name="Text 2"/>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Demo sprint: 4 weeks to proof</a:t>
            </a:r>
            <a:endParaRPr lang="en-US" sz="2800" dirty="0"/>
          </a:p>
        </p:txBody>
      </p:sp>
      <p:sp>
        <p:nvSpPr>
          <p:cNvPr id="5" name="Text 3"/>
          <p:cNvSpPr/>
          <p:nvPr/>
        </p:nvSpPr>
        <p:spPr>
          <a:xfrm>
            <a:off x="731520" y="1234440"/>
            <a:ext cx="7772400" cy="411480"/>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One AOI in Chhattisgarh. One narrative. One screen. Not production — a credible demonstration that starts a pilot conversation.</a:t>
            </a:r>
            <a:endParaRPr lang="en-US" sz="1200" dirty="0"/>
          </a:p>
        </p:txBody>
      </p:sp>
      <p:sp>
        <p:nvSpPr>
          <p:cNvPr id="6" name="Shape 4"/>
          <p:cNvSpPr/>
          <p:nvPr/>
        </p:nvSpPr>
        <p:spPr>
          <a:xfrm>
            <a:off x="731520" y="1828800"/>
            <a:ext cx="1920240" cy="1920240"/>
          </a:xfrm>
          <a:prstGeom prst="rect">
            <a:avLst/>
          </a:prstGeom>
          <a:solidFill>
            <a:srgbClr val="2E3033"/>
          </a:solidFill>
          <a:ln/>
        </p:spPr>
      </p:sp>
      <p:sp>
        <p:nvSpPr>
          <p:cNvPr id="7" name="Text 5"/>
          <p:cNvSpPr/>
          <p:nvPr/>
        </p:nvSpPr>
        <p:spPr>
          <a:xfrm>
            <a:off x="868680" y="1938528"/>
            <a:ext cx="1645920" cy="228600"/>
          </a:xfrm>
          <a:prstGeom prst="rect">
            <a:avLst/>
          </a:prstGeom>
          <a:noFill/>
          <a:ln/>
        </p:spPr>
        <p:txBody>
          <a:bodyPr wrap="square" lIns="0" tIns="0" rIns="0" bIns="0" rtlCol="0" anchor="ctr"/>
          <a:lstStyle/>
          <a:p>
            <a:pPr indent="0" marL="0">
              <a:buNone/>
            </a:pPr>
            <a:r>
              <a:rPr lang="en-US" sz="900" b="1" dirty="0">
                <a:solidFill>
                  <a:srgbClr val="C4703F"/>
                </a:solidFill>
                <a:latin typeface="Calibri" pitchFamily="34" charset="0"/>
                <a:ea typeface="Calibri" pitchFamily="34" charset="-122"/>
                <a:cs typeface="Calibri" pitchFamily="34" charset="-120"/>
              </a:rPr>
              <a:t>Week 1</a:t>
            </a:r>
            <a:endParaRPr lang="en-US" sz="900" dirty="0"/>
          </a:p>
        </p:txBody>
      </p:sp>
      <p:sp>
        <p:nvSpPr>
          <p:cNvPr id="8" name="Text 6"/>
          <p:cNvSpPr/>
          <p:nvPr/>
        </p:nvSpPr>
        <p:spPr>
          <a:xfrm>
            <a:off x="868680" y="2148840"/>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&amp; Labels</a:t>
            </a:r>
            <a:endParaRPr lang="en-US" sz="1200" dirty="0"/>
          </a:p>
        </p:txBody>
      </p:sp>
      <p:sp>
        <p:nvSpPr>
          <p:cNvPr id="9" name="Text 7"/>
          <p:cNvSpPr/>
          <p:nvPr/>
        </p:nvSpPr>
        <p:spPr>
          <a:xfrm>
            <a:off x="868680" y="2514600"/>
            <a:ext cx="1645920" cy="114300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Sentinel-2/1 stack, WorldCereal + Bhuvan priors, phenology rules (paddy water signature), 150–200 manual visual labels</a:t>
            </a:r>
            <a:endParaRPr lang="en-US" sz="950" dirty="0"/>
          </a:p>
        </p:txBody>
      </p:sp>
      <p:sp>
        <p:nvSpPr>
          <p:cNvPr id="10" name="Shape 8"/>
          <p:cNvSpPr/>
          <p:nvPr/>
        </p:nvSpPr>
        <p:spPr>
          <a:xfrm>
            <a:off x="2834640" y="1828800"/>
            <a:ext cx="1920240" cy="1920240"/>
          </a:xfrm>
          <a:prstGeom prst="rect">
            <a:avLst/>
          </a:prstGeom>
          <a:solidFill>
            <a:srgbClr val="2E3033"/>
          </a:solidFill>
          <a:ln/>
        </p:spPr>
      </p:sp>
      <p:sp>
        <p:nvSpPr>
          <p:cNvPr id="11" name="Text 9"/>
          <p:cNvSpPr/>
          <p:nvPr/>
        </p:nvSpPr>
        <p:spPr>
          <a:xfrm>
            <a:off x="2971800" y="1938528"/>
            <a:ext cx="1645920" cy="228600"/>
          </a:xfrm>
          <a:prstGeom prst="rect">
            <a:avLst/>
          </a:prstGeom>
          <a:noFill/>
          <a:ln/>
        </p:spPr>
        <p:txBody>
          <a:bodyPr wrap="square" lIns="0" tIns="0" rIns="0" bIns="0" rtlCol="0" anchor="ctr"/>
          <a:lstStyle/>
          <a:p>
            <a:pPr indent="0" marL="0">
              <a:buNone/>
            </a:pPr>
            <a:r>
              <a:rPr lang="en-US" sz="900" b="1" dirty="0">
                <a:solidFill>
                  <a:srgbClr val="C4703F"/>
                </a:solidFill>
                <a:latin typeface="Calibri" pitchFamily="34" charset="0"/>
                <a:ea typeface="Calibri" pitchFamily="34" charset="-122"/>
                <a:cs typeface="Calibri" pitchFamily="34" charset="-120"/>
              </a:rPr>
              <a:t>Week 2</a:t>
            </a:r>
            <a:endParaRPr lang="en-US" sz="900" dirty="0"/>
          </a:p>
        </p:txBody>
      </p:sp>
      <p:sp>
        <p:nvSpPr>
          <p:cNvPr id="12" name="Text 10"/>
          <p:cNvSpPr/>
          <p:nvPr/>
        </p:nvSpPr>
        <p:spPr>
          <a:xfrm>
            <a:off x="2971800" y="2148840"/>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Model &amp; Inference</a:t>
            </a:r>
            <a:endParaRPr lang="en-US" sz="1200" dirty="0"/>
          </a:p>
        </p:txBody>
      </p:sp>
      <p:sp>
        <p:nvSpPr>
          <p:cNvPr id="13" name="Text 11"/>
          <p:cNvSpPr/>
          <p:nvPr/>
        </p:nvSpPr>
        <p:spPr>
          <a:xfrm>
            <a:off x="2971800" y="2514600"/>
            <a:ext cx="1645920" cy="114300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Repackage competition model for parcel aggregation, run inference across AOI, pre-bake tiles, confusion comparison</a:t>
            </a:r>
            <a:endParaRPr lang="en-US" sz="950" dirty="0"/>
          </a:p>
        </p:txBody>
      </p:sp>
      <p:sp>
        <p:nvSpPr>
          <p:cNvPr id="14" name="Shape 12"/>
          <p:cNvSpPr/>
          <p:nvPr/>
        </p:nvSpPr>
        <p:spPr>
          <a:xfrm>
            <a:off x="4937760" y="1828800"/>
            <a:ext cx="1920240" cy="1920240"/>
          </a:xfrm>
          <a:prstGeom prst="rect">
            <a:avLst/>
          </a:prstGeom>
          <a:solidFill>
            <a:srgbClr val="2E3033"/>
          </a:solidFill>
          <a:ln/>
        </p:spPr>
      </p:sp>
      <p:sp>
        <p:nvSpPr>
          <p:cNvPr id="15" name="Text 13"/>
          <p:cNvSpPr/>
          <p:nvPr/>
        </p:nvSpPr>
        <p:spPr>
          <a:xfrm>
            <a:off x="5074920" y="1938528"/>
            <a:ext cx="1645920" cy="228600"/>
          </a:xfrm>
          <a:prstGeom prst="rect">
            <a:avLst/>
          </a:prstGeom>
          <a:noFill/>
          <a:ln/>
        </p:spPr>
        <p:txBody>
          <a:bodyPr wrap="square" lIns="0" tIns="0" rIns="0" bIns="0" rtlCol="0" anchor="ctr"/>
          <a:lstStyle/>
          <a:p>
            <a:pPr indent="0" marL="0">
              <a:buNone/>
            </a:pPr>
            <a:r>
              <a:rPr lang="en-US" sz="900" b="1" dirty="0">
                <a:solidFill>
                  <a:srgbClr val="C4703F"/>
                </a:solidFill>
                <a:latin typeface="Calibri" pitchFamily="34" charset="0"/>
                <a:ea typeface="Calibri" pitchFamily="34" charset="-122"/>
                <a:cs typeface="Calibri" pitchFamily="34" charset="-120"/>
              </a:rPr>
              <a:t>Week 3</a:t>
            </a:r>
            <a:endParaRPr lang="en-US" sz="900" dirty="0"/>
          </a:p>
        </p:txBody>
      </p:sp>
      <p:sp>
        <p:nvSpPr>
          <p:cNvPr id="16" name="Text 14"/>
          <p:cNvSpPr/>
          <p:nvPr/>
        </p:nvSpPr>
        <p:spPr>
          <a:xfrm>
            <a:off x="5074920" y="2148840"/>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UI &amp; Inspector</a:t>
            </a:r>
            <a:endParaRPr lang="en-US" sz="1200" dirty="0"/>
          </a:p>
        </p:txBody>
      </p:sp>
      <p:sp>
        <p:nvSpPr>
          <p:cNvPr id="17" name="Text 15"/>
          <p:cNvSpPr/>
          <p:nvPr/>
        </p:nvSpPr>
        <p:spPr>
          <a:xfrm>
            <a:off x="5074920" y="2514600"/>
            <a:ext cx="1645920" cy="114300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Map + parcel inspector + time slider + NDVI chart, explain card, API view, RFP traceability sidebar, label-provenance tags</a:t>
            </a:r>
            <a:endParaRPr lang="en-US" sz="950" dirty="0"/>
          </a:p>
        </p:txBody>
      </p:sp>
      <p:sp>
        <p:nvSpPr>
          <p:cNvPr id="18" name="Shape 16"/>
          <p:cNvSpPr/>
          <p:nvPr/>
        </p:nvSpPr>
        <p:spPr>
          <a:xfrm>
            <a:off x="7040880" y="1828800"/>
            <a:ext cx="1920240" cy="1920240"/>
          </a:xfrm>
          <a:prstGeom prst="rect">
            <a:avLst/>
          </a:prstGeom>
          <a:solidFill>
            <a:srgbClr val="2E3033"/>
          </a:solidFill>
          <a:ln/>
        </p:spPr>
      </p:sp>
      <p:sp>
        <p:nvSpPr>
          <p:cNvPr id="19" name="Text 17"/>
          <p:cNvSpPr/>
          <p:nvPr/>
        </p:nvSpPr>
        <p:spPr>
          <a:xfrm>
            <a:off x="7178040" y="1938528"/>
            <a:ext cx="1645920" cy="228600"/>
          </a:xfrm>
          <a:prstGeom prst="rect">
            <a:avLst/>
          </a:prstGeom>
          <a:noFill/>
          <a:ln/>
        </p:spPr>
        <p:txBody>
          <a:bodyPr wrap="square" lIns="0" tIns="0" rIns="0" bIns="0" rtlCol="0" anchor="ctr"/>
          <a:lstStyle/>
          <a:p>
            <a:pPr indent="0" marL="0">
              <a:buNone/>
            </a:pPr>
            <a:r>
              <a:rPr lang="en-US" sz="900" b="1" dirty="0">
                <a:solidFill>
                  <a:srgbClr val="C4703F"/>
                </a:solidFill>
                <a:latin typeface="Calibri" pitchFamily="34" charset="0"/>
                <a:ea typeface="Calibri" pitchFamily="34" charset="-122"/>
                <a:cs typeface="Calibri" pitchFamily="34" charset="-120"/>
              </a:rPr>
              <a:t>Week 4</a:t>
            </a:r>
            <a:endParaRPr lang="en-US" sz="900" dirty="0"/>
          </a:p>
        </p:txBody>
      </p:sp>
      <p:sp>
        <p:nvSpPr>
          <p:cNvPr id="20" name="Text 18"/>
          <p:cNvSpPr/>
          <p:nvPr/>
        </p:nvSpPr>
        <p:spPr>
          <a:xfrm>
            <a:off x="7178040" y="2148840"/>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Story &amp; Polish</a:t>
            </a:r>
            <a:endParaRPr lang="en-US" sz="1200" dirty="0"/>
          </a:p>
        </p:txBody>
      </p:sp>
      <p:sp>
        <p:nvSpPr>
          <p:cNvPr id="21" name="Text 19"/>
          <p:cNvSpPr/>
          <p:nvPr/>
        </p:nvSpPr>
        <p:spPr>
          <a:xfrm>
            <a:off x="7178040" y="2514600"/>
            <a:ext cx="1645920" cy="114300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5-page leave-behind, talk track per audience (state / trader / insurer), dry-run five times, deploy shareable</a:t>
            </a:r>
            <a:endParaRPr lang="en-US" sz="950" dirty="0"/>
          </a:p>
        </p:txBody>
      </p:sp>
      <p:sp>
        <p:nvSpPr>
          <p:cNvPr id="22" name="Text 20"/>
          <p:cNvSpPr/>
          <p:nvPr/>
        </p:nvSpPr>
        <p:spPr>
          <a:xfrm>
            <a:off x="731520" y="3931920"/>
            <a:ext cx="2743200" cy="228600"/>
          </a:xfrm>
          <a:prstGeom prst="rect">
            <a:avLst/>
          </a:prstGeom>
          <a:noFill/>
          <a:ln/>
        </p:spPr>
        <p:txBody>
          <a:bodyPr wrap="square" lIns="0" tIns="0" rIns="0" bIns="0" rtlCol="0" anchor="ctr"/>
          <a:lstStyle/>
          <a:p>
            <a:pPr indent="0" marL="0">
              <a:buNone/>
            </a:pPr>
            <a:r>
              <a:rPr lang="en-US" sz="1050" dirty="0">
                <a:solidFill>
                  <a:srgbClr val="7A7A7A"/>
                </a:solidFill>
                <a:latin typeface="Calibri" pitchFamily="34" charset="0"/>
                <a:ea typeface="Calibri" pitchFamily="34" charset="-122"/>
                <a:cs typeface="Calibri" pitchFamily="34" charset="-120"/>
              </a:rPr>
              <a:t>Same demo, three opening lines:</a:t>
            </a:r>
            <a:endParaRPr lang="en-US" sz="1050" dirty="0"/>
          </a:p>
        </p:txBody>
      </p:sp>
      <p:sp>
        <p:nvSpPr>
          <p:cNvPr id="23" name="Text 21"/>
          <p:cNvSpPr/>
          <p:nvPr/>
        </p:nvSpPr>
        <p:spPr>
          <a:xfrm>
            <a:off x="731520" y="4206240"/>
            <a:ext cx="2651760" cy="228600"/>
          </a:xfrm>
          <a:prstGeom prst="rect">
            <a:avLst/>
          </a:prstGeom>
          <a:noFill/>
          <a:ln/>
        </p:spPr>
        <p:txBody>
          <a:bodyPr wrap="square" lIns="0" tIns="0" rIns="0" bIns="0" rtlCol="0" anchor="ctr"/>
          <a:lstStyle/>
          <a:p>
            <a:pPr indent="0" marL="0">
              <a:buNone/>
            </a:pPr>
            <a:r>
              <a:rPr lang="en-US" sz="950" b="1" dirty="0">
                <a:solidFill>
                  <a:srgbClr val="C4703F"/>
                </a:solidFill>
                <a:latin typeface="Calibri" pitchFamily="34" charset="0"/>
                <a:ea typeface="Calibri" pitchFamily="34" charset="-122"/>
                <a:cs typeface="Calibri" pitchFamily="34" charset="-120"/>
              </a:rPr>
              <a:t>State ag secretary</a:t>
            </a:r>
            <a:endParaRPr lang="en-US" sz="950" dirty="0"/>
          </a:p>
        </p:txBody>
      </p:sp>
      <p:sp>
        <p:nvSpPr>
          <p:cNvPr id="24" name="Text 22"/>
          <p:cNvSpPr/>
          <p:nvPr/>
        </p:nvSpPr>
        <p:spPr>
          <a:xfrm>
            <a:off x="731520" y="4434840"/>
            <a:ext cx="2651760" cy="320040"/>
          </a:xfrm>
          <a:prstGeom prst="rect">
            <a:avLst/>
          </a:prstGeom>
          <a:noFill/>
          <a:ln/>
        </p:spPr>
        <p:txBody>
          <a:bodyPr wrap="square" lIns="0" tIns="0" rIns="0" bIns="0" rtlCol="0" anchor="ctr"/>
          <a:lstStyle/>
          <a:p>
            <a:pPr indent="0" marL="0">
              <a:buNone/>
            </a:pPr>
            <a:r>
              <a:rPr lang="en-US" sz="950" i="1" dirty="0">
                <a:solidFill>
                  <a:srgbClr val="BBBBBB"/>
                </a:solidFill>
                <a:latin typeface="Calibri" pitchFamily="34" charset="0"/>
                <a:ea typeface="Calibri" pitchFamily="34" charset="-122"/>
                <a:cs typeface="Calibri" pitchFamily="34" charset="-120"/>
              </a:rPr>
              <a:t>“I could see crop loss before a claim is filed.”</a:t>
            </a:r>
            <a:endParaRPr lang="en-US" sz="950" dirty="0"/>
          </a:p>
        </p:txBody>
      </p:sp>
      <p:sp>
        <p:nvSpPr>
          <p:cNvPr id="25" name="Text 23"/>
          <p:cNvSpPr/>
          <p:nvPr/>
        </p:nvSpPr>
        <p:spPr>
          <a:xfrm>
            <a:off x="3566160" y="4206240"/>
            <a:ext cx="2651760" cy="228600"/>
          </a:xfrm>
          <a:prstGeom prst="rect">
            <a:avLst/>
          </a:prstGeom>
          <a:noFill/>
          <a:ln/>
        </p:spPr>
        <p:txBody>
          <a:bodyPr wrap="square" lIns="0" tIns="0" rIns="0" bIns="0" rtlCol="0" anchor="ctr"/>
          <a:lstStyle/>
          <a:p>
            <a:pPr indent="0" marL="0">
              <a:buNone/>
            </a:pPr>
            <a:r>
              <a:rPr lang="en-US" sz="950" b="1" dirty="0">
                <a:solidFill>
                  <a:srgbClr val="C4703F"/>
                </a:solidFill>
                <a:latin typeface="Calibri" pitchFamily="34" charset="0"/>
                <a:ea typeface="Calibri" pitchFamily="34" charset="-122"/>
                <a:cs typeface="Calibri" pitchFamily="34" charset="-120"/>
              </a:rPr>
              <a:t>Commodity trader</a:t>
            </a:r>
            <a:endParaRPr lang="en-US" sz="950" dirty="0"/>
          </a:p>
        </p:txBody>
      </p:sp>
      <p:sp>
        <p:nvSpPr>
          <p:cNvPr id="26" name="Text 24"/>
          <p:cNvSpPr/>
          <p:nvPr/>
        </p:nvSpPr>
        <p:spPr>
          <a:xfrm>
            <a:off x="3566160" y="4434840"/>
            <a:ext cx="2651760" cy="320040"/>
          </a:xfrm>
          <a:prstGeom prst="rect">
            <a:avLst/>
          </a:prstGeom>
          <a:noFill/>
          <a:ln/>
        </p:spPr>
        <p:txBody>
          <a:bodyPr wrap="square" lIns="0" tIns="0" rIns="0" bIns="0" rtlCol="0" anchor="ctr"/>
          <a:lstStyle/>
          <a:p>
            <a:pPr indent="0" marL="0">
              <a:buNone/>
            </a:pPr>
            <a:r>
              <a:rPr lang="en-US" sz="950" i="1" dirty="0">
                <a:solidFill>
                  <a:srgbClr val="BBBBBB"/>
                </a:solidFill>
                <a:latin typeface="Calibri" pitchFamily="34" charset="0"/>
                <a:ea typeface="Calibri" pitchFamily="34" charset="-122"/>
                <a:cs typeface="Calibri" pitchFamily="34" charset="-120"/>
              </a:rPr>
              <a:t>“I could see acreage two weeks before the bulletin.”</a:t>
            </a:r>
            <a:endParaRPr lang="en-US" sz="950" dirty="0"/>
          </a:p>
        </p:txBody>
      </p:sp>
      <p:sp>
        <p:nvSpPr>
          <p:cNvPr id="27" name="Text 25"/>
          <p:cNvSpPr/>
          <p:nvPr/>
        </p:nvSpPr>
        <p:spPr>
          <a:xfrm>
            <a:off x="6400800" y="4206240"/>
            <a:ext cx="2651760" cy="228600"/>
          </a:xfrm>
          <a:prstGeom prst="rect">
            <a:avLst/>
          </a:prstGeom>
          <a:noFill/>
          <a:ln/>
        </p:spPr>
        <p:txBody>
          <a:bodyPr wrap="square" lIns="0" tIns="0" rIns="0" bIns="0" rtlCol="0" anchor="ctr"/>
          <a:lstStyle/>
          <a:p>
            <a:pPr indent="0" marL="0">
              <a:buNone/>
            </a:pPr>
            <a:r>
              <a:rPr lang="en-US" sz="950" b="1" dirty="0">
                <a:solidFill>
                  <a:srgbClr val="C4703F"/>
                </a:solidFill>
                <a:latin typeface="Calibri" pitchFamily="34" charset="0"/>
                <a:ea typeface="Calibri" pitchFamily="34" charset="-122"/>
                <a:cs typeface="Calibri" pitchFamily="34" charset="-120"/>
              </a:rPr>
              <a:t>Insurer</a:t>
            </a:r>
            <a:endParaRPr lang="en-US" sz="950" dirty="0"/>
          </a:p>
        </p:txBody>
      </p:sp>
      <p:sp>
        <p:nvSpPr>
          <p:cNvPr id="28" name="Text 26"/>
          <p:cNvSpPr/>
          <p:nvPr/>
        </p:nvSpPr>
        <p:spPr>
          <a:xfrm>
            <a:off x="6400800" y="4434840"/>
            <a:ext cx="2651760" cy="320040"/>
          </a:xfrm>
          <a:prstGeom prst="rect">
            <a:avLst/>
          </a:prstGeom>
          <a:noFill/>
          <a:ln/>
        </p:spPr>
        <p:txBody>
          <a:bodyPr wrap="square" lIns="0" tIns="0" rIns="0" bIns="0" rtlCol="0" anchor="ctr"/>
          <a:lstStyle/>
          <a:p>
            <a:pPr indent="0" marL="0">
              <a:buNone/>
            </a:pPr>
            <a:r>
              <a:rPr lang="en-US" sz="950" i="1" dirty="0">
                <a:solidFill>
                  <a:srgbClr val="BBBBBB"/>
                </a:solidFill>
                <a:latin typeface="Calibri" pitchFamily="34" charset="0"/>
                <a:ea typeface="Calibri" pitchFamily="34" charset="-122"/>
                <a:cs typeface="Calibri" pitchFamily="34" charset="-120"/>
              </a:rPr>
              <a:t>“I could auto-settle PMFBY at scale.”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BF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54864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QUESTIONS FOR THE ROOM</a:t>
            </a:r>
            <a:endParaRPr lang="en-US" sz="1100" dirty="0"/>
          </a:p>
        </p:txBody>
      </p:sp>
      <p:sp>
        <p:nvSpPr>
          <p:cNvPr id="4" name="Text 2"/>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2B2D2F"/>
                </a:solidFill>
                <a:latin typeface="Georgia" pitchFamily="34" charset="0"/>
                <a:ea typeface="Georgia" pitchFamily="34" charset="-122"/>
                <a:cs typeface="Georgia" pitchFamily="34" charset="-120"/>
              </a:rPr>
              <a:t>What we need to decide</a:t>
            </a:r>
            <a:endParaRPr lang="en-US" sz="2800" dirty="0"/>
          </a:p>
        </p:txBody>
      </p:sp>
      <p:sp>
        <p:nvSpPr>
          <p:cNvPr id="5" name="Shape 3"/>
          <p:cNvSpPr/>
          <p:nvPr/>
        </p:nvSpPr>
        <p:spPr>
          <a:xfrm>
            <a:off x="731520" y="1371600"/>
            <a:ext cx="2651760" cy="265176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6" name="Shape 4"/>
          <p:cNvSpPr/>
          <p:nvPr/>
        </p:nvSpPr>
        <p:spPr>
          <a:xfrm>
            <a:off x="731520" y="1371600"/>
            <a:ext cx="2651760" cy="54864"/>
          </a:xfrm>
          <a:prstGeom prst="rect">
            <a:avLst/>
          </a:prstGeom>
          <a:solidFill>
            <a:srgbClr val="C4703F"/>
          </a:solidFill>
          <a:ln/>
        </p:spPr>
      </p:sp>
      <p:sp>
        <p:nvSpPr>
          <p:cNvPr id="7" name="Text 5"/>
          <p:cNvSpPr/>
          <p:nvPr/>
        </p:nvSpPr>
        <p:spPr>
          <a:xfrm>
            <a:off x="914400" y="1508760"/>
            <a:ext cx="2286000" cy="274320"/>
          </a:xfrm>
          <a:prstGeom prst="rect">
            <a:avLst/>
          </a:prstGeom>
          <a:noFill/>
          <a:ln/>
        </p:spPr>
        <p:txBody>
          <a:bodyPr wrap="square" lIns="0" tIns="0" rIns="0" bIns="0" rtlCol="0" anchor="ctr"/>
          <a:lstStyle/>
          <a:p>
            <a:pPr indent="0" marL="0">
              <a:buNone/>
            </a:pPr>
            <a:r>
              <a:rPr lang="en-US" sz="1100" b="1" dirty="0">
                <a:solidFill>
                  <a:srgbClr val="C4703F"/>
                </a:solidFill>
                <a:latin typeface="Calibri" pitchFamily="34" charset="0"/>
                <a:ea typeface="Calibri" pitchFamily="34" charset="-122"/>
                <a:cs typeface="Calibri" pitchFamily="34" charset="-120"/>
              </a:rPr>
              <a:t>From the story</a:t>
            </a:r>
            <a:endParaRPr lang="en-US" sz="1100" dirty="0"/>
          </a:p>
        </p:txBody>
      </p:sp>
      <p:sp>
        <p:nvSpPr>
          <p:cNvPr id="8" name="Text 6"/>
          <p:cNvSpPr/>
          <p:nvPr/>
        </p:nvSpPr>
        <p:spPr>
          <a:xfrm>
            <a:off x="914400" y="1828800"/>
            <a:ext cx="2286000" cy="201168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Is the 'platform, not model' framing right for us -- or should we sell a narrower product?</a:t>
            </a:r>
            <a:endParaRPr lang="en-US" sz="950" dirty="0"/>
          </a:p>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Which buyer do we talk to first — state secretary, trader, or insurer?</a:t>
            </a:r>
            <a:endParaRPr lang="en-US" sz="950" dirty="0"/>
          </a:p>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Do we want to survive govt procurement, or serve the people who do?</a:t>
            </a:r>
            <a:endParaRPr lang="en-US" sz="950" dirty="0"/>
          </a:p>
        </p:txBody>
      </p:sp>
      <p:sp>
        <p:nvSpPr>
          <p:cNvPr id="9" name="Shape 7"/>
          <p:cNvSpPr/>
          <p:nvPr/>
        </p:nvSpPr>
        <p:spPr>
          <a:xfrm>
            <a:off x="3566160" y="1371600"/>
            <a:ext cx="2651760" cy="265176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10" name="Shape 8"/>
          <p:cNvSpPr/>
          <p:nvPr/>
        </p:nvSpPr>
        <p:spPr>
          <a:xfrm>
            <a:off x="3566160" y="1371600"/>
            <a:ext cx="2651760" cy="54864"/>
          </a:xfrm>
          <a:prstGeom prst="rect">
            <a:avLst/>
          </a:prstGeom>
          <a:solidFill>
            <a:srgbClr val="4A7C59"/>
          </a:solidFill>
          <a:ln/>
        </p:spPr>
      </p:sp>
      <p:sp>
        <p:nvSpPr>
          <p:cNvPr id="11" name="Text 9"/>
          <p:cNvSpPr/>
          <p:nvPr/>
        </p:nvSpPr>
        <p:spPr>
          <a:xfrm>
            <a:off x="3749040" y="1508760"/>
            <a:ext cx="2286000" cy="274320"/>
          </a:xfrm>
          <a:prstGeom prst="rect">
            <a:avLst/>
          </a:prstGeom>
          <a:noFill/>
          <a:ln/>
        </p:spPr>
        <p:txBody>
          <a:bodyPr wrap="square" lIns="0" tIns="0" rIns="0" bIns="0" rtlCol="0" anchor="ctr"/>
          <a:lstStyle/>
          <a:p>
            <a:pPr indent="0" marL="0">
              <a:buNone/>
            </a:pPr>
            <a:r>
              <a:rPr lang="en-US" sz="1100" b="1" dirty="0">
                <a:solidFill>
                  <a:srgbClr val="4A7C59"/>
                </a:solidFill>
                <a:latin typeface="Calibri" pitchFamily="34" charset="0"/>
                <a:ea typeface="Calibri" pitchFamily="34" charset="-122"/>
                <a:cs typeface="Calibri" pitchFamily="34" charset="-120"/>
              </a:rPr>
              <a:t>From the economics</a:t>
            </a:r>
            <a:endParaRPr lang="en-US" sz="1100" dirty="0"/>
          </a:p>
        </p:txBody>
      </p:sp>
      <p:sp>
        <p:nvSpPr>
          <p:cNvPr id="12" name="Text 10"/>
          <p:cNvSpPr/>
          <p:nvPr/>
        </p:nvSpPr>
        <p:spPr>
          <a:xfrm>
            <a:off x="3749040" y="1828800"/>
            <a:ext cx="2286000" cy="201168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Is licensing the engine to SIs (shape 2) more honest than owning state contracts (shape 1)?</a:t>
            </a:r>
            <a:endParaRPr lang="en-US" sz="950" dirty="0"/>
          </a:p>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What’s each of our appetite for the 18-month sales cycle?</a:t>
            </a:r>
            <a:endParaRPr lang="en-US" sz="950" dirty="0"/>
          </a:p>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Are we self-funding through wedge? How much is each of us putting in?</a:t>
            </a:r>
            <a:endParaRPr lang="en-US" sz="950" dirty="0"/>
          </a:p>
        </p:txBody>
      </p:sp>
      <p:sp>
        <p:nvSpPr>
          <p:cNvPr id="13" name="Shape 11"/>
          <p:cNvSpPr/>
          <p:nvPr/>
        </p:nvSpPr>
        <p:spPr>
          <a:xfrm>
            <a:off x="6400800" y="1371600"/>
            <a:ext cx="2651760" cy="265176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14" name="Shape 12"/>
          <p:cNvSpPr/>
          <p:nvPr/>
        </p:nvSpPr>
        <p:spPr>
          <a:xfrm>
            <a:off x="6400800" y="1371600"/>
            <a:ext cx="2651760" cy="54864"/>
          </a:xfrm>
          <a:prstGeom prst="rect">
            <a:avLst/>
          </a:prstGeom>
          <a:solidFill>
            <a:srgbClr val="5A7AB5"/>
          </a:solidFill>
          <a:ln/>
        </p:spPr>
      </p:sp>
      <p:sp>
        <p:nvSpPr>
          <p:cNvPr id="15" name="Text 13"/>
          <p:cNvSpPr/>
          <p:nvPr/>
        </p:nvSpPr>
        <p:spPr>
          <a:xfrm>
            <a:off x="6583680" y="1508760"/>
            <a:ext cx="2286000" cy="274320"/>
          </a:xfrm>
          <a:prstGeom prst="rect">
            <a:avLst/>
          </a:prstGeom>
          <a:noFill/>
          <a:ln/>
        </p:spPr>
        <p:txBody>
          <a:bodyPr wrap="square" lIns="0" tIns="0" rIns="0" bIns="0" rtlCol="0" anchor="ctr"/>
          <a:lstStyle/>
          <a:p>
            <a:pPr indent="0" marL="0">
              <a:buNone/>
            </a:pPr>
            <a:r>
              <a:rPr lang="en-US" sz="1100" b="1" dirty="0">
                <a:solidFill>
                  <a:srgbClr val="5A7AB5"/>
                </a:solidFill>
                <a:latin typeface="Calibri" pitchFamily="34" charset="0"/>
                <a:ea typeface="Calibri" pitchFamily="34" charset="-122"/>
                <a:cs typeface="Calibri" pitchFamily="34" charset="-120"/>
              </a:rPr>
              <a:t>From the build</a:t>
            </a:r>
            <a:endParaRPr lang="en-US" sz="1100" dirty="0"/>
          </a:p>
        </p:txBody>
      </p:sp>
      <p:sp>
        <p:nvSpPr>
          <p:cNvPr id="16" name="Text 14"/>
          <p:cNvSpPr/>
          <p:nvPr/>
        </p:nvSpPr>
        <p:spPr>
          <a:xfrm>
            <a:off x="6583680" y="1828800"/>
            <a:ext cx="2286000" cy="201168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Can we commit 4 weeks to harden the demo as the first concrete deliverable?</a:t>
            </a:r>
            <a:endParaRPr lang="en-US" sz="950" dirty="0"/>
          </a:p>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Who owns GT operations — us or a partner? This decides team shape.</a:t>
            </a:r>
            <a:endParaRPr lang="en-US" sz="950" dirty="0"/>
          </a:p>
          <a:p>
            <a:pPr marL="342900" indent="-342900">
              <a:spcAft>
                <a:spcPts val="600"/>
              </a:spcAft>
              <a:buSzPct val="100000"/>
              <a:buChar char="•"/>
            </a:pPr>
            <a:r>
              <a:rPr lang="en-US" sz="950" dirty="0">
                <a:solidFill>
                  <a:srgbClr val="3A3A3A"/>
                </a:solidFill>
                <a:latin typeface="Calibri" pitchFamily="34" charset="0"/>
                <a:ea typeface="Calibri" pitchFamily="34" charset="-122"/>
                <a:cs typeface="Calibri" pitchFamily="34" charset="-120"/>
              </a:rPr>
              <a:t>Do we do the field trip (one weekend, ~30K) for credibility photos?</a:t>
            </a:r>
            <a:endParaRPr lang="en-US" sz="950" dirty="0"/>
          </a:p>
        </p:txBody>
      </p:sp>
      <p:sp>
        <p:nvSpPr>
          <p:cNvPr id="17" name="Shape 15"/>
          <p:cNvSpPr/>
          <p:nvPr/>
        </p:nvSpPr>
        <p:spPr>
          <a:xfrm>
            <a:off x="731520" y="4206240"/>
            <a:ext cx="7863840" cy="502920"/>
          </a:xfrm>
          <a:prstGeom prst="rect">
            <a:avLst/>
          </a:prstGeom>
          <a:solidFill>
            <a:srgbClr val="F0EDE6"/>
          </a:solidFill>
          <a:ln/>
        </p:spPr>
      </p:sp>
      <p:sp>
        <p:nvSpPr>
          <p:cNvPr id="18" name="Text 16"/>
          <p:cNvSpPr/>
          <p:nvPr/>
        </p:nvSpPr>
        <p:spPr>
          <a:xfrm>
            <a:off x="914400" y="4251960"/>
            <a:ext cx="7498080" cy="411480"/>
          </a:xfrm>
          <a:prstGeom prst="rect">
            <a:avLst/>
          </a:prstGeom>
          <a:noFill/>
          <a:ln/>
        </p:spPr>
        <p:txBody>
          <a:bodyPr wrap="square" lIns="0" tIns="0" rIns="0" bIns="0" rtlCol="0" anchor="ctr"/>
          <a:lstStyle/>
          <a:p>
            <a:pPr indent="0" marL="0">
              <a:buNone/>
            </a:pPr>
            <a:r>
              <a:rPr lang="en-US" sz="1050" b="1" dirty="0">
                <a:solidFill>
                  <a:srgbClr val="2B2D2F"/>
                </a:solidFill>
                <a:latin typeface="Calibri" pitchFamily="34" charset="0"/>
                <a:ea typeface="Calibri" pitchFamily="34" charset="-122"/>
                <a:cs typeface="Calibri" pitchFamily="34" charset="-120"/>
              </a:rPr>
              <a:t>90-day litmus test:  </a:t>
            </a:r>
            <a:pPr indent="0" marL="0">
              <a:buNone/>
            </a:pPr>
            <a:r>
              <a:rPr lang="en-US" sz="1050" dirty="0">
                <a:solidFill>
                  <a:srgbClr val="555555"/>
                </a:solidFill>
                <a:latin typeface="Calibri" pitchFamily="34" charset="0"/>
                <a:ea typeface="Calibri" pitchFamily="34" charset="-122"/>
                <a:cs typeface="Calibri" pitchFamily="34" charset="-120"/>
              </a:rPr>
              <a:t>Demo lands with one buyer  +  we can name what we'd own that Cropin can't replicate  =  keep going.  Otherwise, we have an interesting consulting practice — and that's also fine.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BF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36576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THE LANDSCAPE</a:t>
            </a:r>
            <a:endParaRPr lang="en-US" sz="1100" dirty="0"/>
          </a:p>
        </p:txBody>
      </p:sp>
      <p:sp>
        <p:nvSpPr>
          <p:cNvPr id="4" name="Text 2"/>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2B2D2F"/>
                </a:solidFill>
                <a:latin typeface="Georgia" pitchFamily="34" charset="0"/>
                <a:ea typeface="Georgia" pitchFamily="34" charset="-122"/>
                <a:cs typeface="Georgia" pitchFamily="34" charset="-120"/>
              </a:rPr>
              <a:t>Who else is here</a:t>
            </a:r>
            <a:endParaRPr lang="en-US" sz="2800" dirty="0"/>
          </a:p>
        </p:txBody>
      </p:sp>
      <p:sp>
        <p:nvSpPr>
          <p:cNvPr id="5" name="Shape 3"/>
          <p:cNvSpPr/>
          <p:nvPr/>
        </p:nvSpPr>
        <p:spPr>
          <a:xfrm>
            <a:off x="731520" y="1371600"/>
            <a:ext cx="2651760" cy="324612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6" name="Shape 4"/>
          <p:cNvSpPr/>
          <p:nvPr/>
        </p:nvSpPr>
        <p:spPr>
          <a:xfrm>
            <a:off x="731520" y="1371600"/>
            <a:ext cx="2651760" cy="54864"/>
          </a:xfrm>
          <a:prstGeom prst="rect">
            <a:avLst/>
          </a:prstGeom>
          <a:solidFill>
            <a:srgbClr val="C4703F"/>
          </a:solidFill>
          <a:ln/>
        </p:spPr>
      </p:sp>
      <p:sp>
        <p:nvSpPr>
          <p:cNvPr id="7" name="Text 5"/>
          <p:cNvSpPr/>
          <p:nvPr/>
        </p:nvSpPr>
        <p:spPr>
          <a:xfrm>
            <a:off x="914400" y="1508760"/>
            <a:ext cx="2286000" cy="274320"/>
          </a:xfrm>
          <a:prstGeom prst="rect">
            <a:avLst/>
          </a:prstGeom>
          <a:noFill/>
          <a:ln/>
        </p:spPr>
        <p:txBody>
          <a:bodyPr wrap="square" lIns="0" tIns="0" rIns="0" bIns="0" rtlCol="0" anchor="ctr"/>
          <a:lstStyle/>
          <a:p>
            <a:pPr indent="0" marL="0">
              <a:buNone/>
            </a:pPr>
            <a:r>
              <a:rPr lang="en-US" sz="1100" b="1" dirty="0">
                <a:solidFill>
                  <a:srgbClr val="C4703F"/>
                </a:solidFill>
                <a:latin typeface="Calibri" pitchFamily="34" charset="0"/>
                <a:ea typeface="Calibri" pitchFamily="34" charset="-122"/>
                <a:cs typeface="Calibri" pitchFamily="34" charset="-120"/>
              </a:rPr>
              <a:t>Direct competitors</a:t>
            </a:r>
            <a:endParaRPr lang="en-US" sz="1100" dirty="0"/>
          </a:p>
        </p:txBody>
      </p:sp>
      <p:sp>
        <p:nvSpPr>
          <p:cNvPr id="8" name="Text 6"/>
          <p:cNvSpPr/>
          <p:nvPr/>
        </p:nvSpPr>
        <p:spPr>
          <a:xfrm>
            <a:off x="914400" y="18745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Cropin</a:t>
            </a:r>
            <a:endParaRPr lang="en-US" sz="1000" dirty="0"/>
          </a:p>
        </p:txBody>
      </p:sp>
      <p:sp>
        <p:nvSpPr>
          <p:cNvPr id="9" name="Text 7"/>
          <p:cNvSpPr/>
          <p:nvPr/>
        </p:nvSpPr>
        <p:spPr>
          <a:xfrm>
            <a:off x="914400" y="20756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~$140M raised, est. $15–25M ARR. Full-stack but weak on govt workflow.</a:t>
            </a:r>
            <a:endParaRPr lang="en-US" sz="850" dirty="0"/>
          </a:p>
        </p:txBody>
      </p:sp>
      <p:sp>
        <p:nvSpPr>
          <p:cNvPr id="10" name="Text 8"/>
          <p:cNvSpPr/>
          <p:nvPr/>
        </p:nvSpPr>
        <p:spPr>
          <a:xfrm>
            <a:off x="914400" y="25603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SatSure</a:t>
            </a:r>
            <a:endParaRPr lang="en-US" sz="1000" dirty="0"/>
          </a:p>
        </p:txBody>
      </p:sp>
      <p:sp>
        <p:nvSpPr>
          <p:cNvPr id="11" name="Text 9"/>
          <p:cNvSpPr/>
          <p:nvPr/>
        </p:nvSpPr>
        <p:spPr>
          <a:xfrm>
            <a:off x="914400" y="27614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Smaller. Strong on credit/insurance use cases, less on state platforms.</a:t>
            </a:r>
            <a:endParaRPr lang="en-US" sz="850" dirty="0"/>
          </a:p>
        </p:txBody>
      </p:sp>
      <p:sp>
        <p:nvSpPr>
          <p:cNvPr id="12" name="Text 10"/>
          <p:cNvSpPr/>
          <p:nvPr/>
        </p:nvSpPr>
        <p:spPr>
          <a:xfrm>
            <a:off x="914400" y="32461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RMSI Cropalytics</a:t>
            </a:r>
            <a:endParaRPr lang="en-US" sz="1000" dirty="0"/>
          </a:p>
        </p:txBody>
      </p:sp>
      <p:sp>
        <p:nvSpPr>
          <p:cNvPr id="13" name="Text 11"/>
          <p:cNvSpPr/>
          <p:nvPr/>
        </p:nvSpPr>
        <p:spPr>
          <a:xfrm>
            <a:off x="914400" y="34472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Services DNA. Does the work but doesn't own a product layer.</a:t>
            </a:r>
            <a:endParaRPr lang="en-US" sz="850" dirty="0"/>
          </a:p>
        </p:txBody>
      </p:sp>
      <p:sp>
        <p:nvSpPr>
          <p:cNvPr id="14" name="Text 12"/>
          <p:cNvSpPr/>
          <p:nvPr/>
        </p:nvSpPr>
        <p:spPr>
          <a:xfrm>
            <a:off x="914400" y="39319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MapMyCrop / EOSDA</a:t>
            </a:r>
            <a:endParaRPr lang="en-US" sz="1000" dirty="0"/>
          </a:p>
        </p:txBody>
      </p:sp>
      <p:sp>
        <p:nvSpPr>
          <p:cNvPr id="15" name="Text 13"/>
          <p:cNvSpPr/>
          <p:nvPr/>
        </p:nvSpPr>
        <p:spPr>
          <a:xfrm>
            <a:off x="914400" y="41330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Niche. Lack parcel-grade accuracy or imagery flexibility.</a:t>
            </a:r>
            <a:endParaRPr lang="en-US" sz="850" dirty="0"/>
          </a:p>
        </p:txBody>
      </p:sp>
      <p:sp>
        <p:nvSpPr>
          <p:cNvPr id="16" name="Shape 14"/>
          <p:cNvSpPr/>
          <p:nvPr/>
        </p:nvSpPr>
        <p:spPr>
          <a:xfrm>
            <a:off x="3566160" y="1371600"/>
            <a:ext cx="2651760" cy="324612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17" name="Shape 15"/>
          <p:cNvSpPr/>
          <p:nvPr/>
        </p:nvSpPr>
        <p:spPr>
          <a:xfrm>
            <a:off x="3566160" y="1371600"/>
            <a:ext cx="2651760" cy="54864"/>
          </a:xfrm>
          <a:prstGeom prst="rect">
            <a:avLst/>
          </a:prstGeom>
          <a:solidFill>
            <a:srgbClr val="4A7C59"/>
          </a:solidFill>
          <a:ln/>
        </p:spPr>
      </p:sp>
      <p:sp>
        <p:nvSpPr>
          <p:cNvPr id="18" name="Text 16"/>
          <p:cNvSpPr/>
          <p:nvPr/>
        </p:nvSpPr>
        <p:spPr>
          <a:xfrm>
            <a:off x="3749040" y="1508760"/>
            <a:ext cx="2286000" cy="274320"/>
          </a:xfrm>
          <a:prstGeom prst="rect">
            <a:avLst/>
          </a:prstGeom>
          <a:noFill/>
          <a:ln/>
        </p:spPr>
        <p:txBody>
          <a:bodyPr wrap="square" lIns="0" tIns="0" rIns="0" bIns="0" rtlCol="0" anchor="ctr"/>
          <a:lstStyle/>
          <a:p>
            <a:pPr indent="0" marL="0">
              <a:buNone/>
            </a:pPr>
            <a:r>
              <a:rPr lang="en-US" sz="1100" b="1" dirty="0">
                <a:solidFill>
                  <a:srgbClr val="4A7C59"/>
                </a:solidFill>
                <a:latin typeface="Calibri" pitchFamily="34" charset="0"/>
                <a:ea typeface="Calibri" pitchFamily="34" charset="-122"/>
                <a:cs typeface="Calibri" pitchFamily="34" charset="-120"/>
              </a:rPr>
              <a:t>Adjacent players</a:t>
            </a:r>
            <a:endParaRPr lang="en-US" sz="1100" dirty="0"/>
          </a:p>
        </p:txBody>
      </p:sp>
      <p:sp>
        <p:nvSpPr>
          <p:cNvPr id="19" name="Text 17"/>
          <p:cNvSpPr/>
          <p:nvPr/>
        </p:nvSpPr>
        <p:spPr>
          <a:xfrm>
            <a:off x="3749040" y="18745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EarthDaily / Geosys</a:t>
            </a:r>
            <a:endParaRPr lang="en-US" sz="1000" dirty="0"/>
          </a:p>
        </p:txBody>
      </p:sp>
      <p:sp>
        <p:nvSpPr>
          <p:cNvPr id="20" name="Text 18"/>
          <p:cNvSpPr/>
          <p:nvPr/>
        </p:nvSpPr>
        <p:spPr>
          <a:xfrm>
            <a:off x="3749040" y="20756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Strong agronomy, less government-platform DNA.</a:t>
            </a:r>
            <a:endParaRPr lang="en-US" sz="850" dirty="0"/>
          </a:p>
        </p:txBody>
      </p:sp>
      <p:sp>
        <p:nvSpPr>
          <p:cNvPr id="21" name="Text 19"/>
          <p:cNvSpPr/>
          <p:nvPr/>
        </p:nvSpPr>
        <p:spPr>
          <a:xfrm>
            <a:off x="3749040" y="25603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Syngenta Cropwise</a:t>
            </a:r>
            <a:endParaRPr lang="en-US" sz="1000" dirty="0"/>
          </a:p>
        </p:txBody>
      </p:sp>
      <p:sp>
        <p:nvSpPr>
          <p:cNvPr id="22" name="Text 20"/>
          <p:cNvSpPr/>
          <p:nvPr/>
        </p:nvSpPr>
        <p:spPr>
          <a:xfrm>
            <a:off x="3749040" y="27614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Enterprise distribution, not built for Indian state procurement.</a:t>
            </a:r>
            <a:endParaRPr lang="en-US" sz="850" dirty="0"/>
          </a:p>
        </p:txBody>
      </p:sp>
      <p:sp>
        <p:nvSpPr>
          <p:cNvPr id="23" name="Text 21"/>
          <p:cNvSpPr/>
          <p:nvPr/>
        </p:nvSpPr>
        <p:spPr>
          <a:xfrm>
            <a:off x="3749040" y="32461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Pixxel / Planet / Maxar</a:t>
            </a:r>
            <a:endParaRPr lang="en-US" sz="1000" dirty="0"/>
          </a:p>
        </p:txBody>
      </p:sp>
      <p:sp>
        <p:nvSpPr>
          <p:cNvPr id="24" name="Text 22"/>
          <p:cNvSpPr/>
          <p:nvPr/>
        </p:nvSpPr>
        <p:spPr>
          <a:xfrm>
            <a:off x="3749040" y="34472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Infrastructure, not competitors. We'd buy from them.</a:t>
            </a:r>
            <a:endParaRPr lang="en-US" sz="850" dirty="0"/>
          </a:p>
        </p:txBody>
      </p:sp>
      <p:sp>
        <p:nvSpPr>
          <p:cNvPr id="25" name="Text 23"/>
          <p:cNvSpPr/>
          <p:nvPr/>
        </p:nvSpPr>
        <p:spPr>
          <a:xfrm>
            <a:off x="3749040" y="39319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Esri / GEE / MS Planetary</a:t>
            </a:r>
            <a:endParaRPr lang="en-US" sz="1000" dirty="0"/>
          </a:p>
        </p:txBody>
      </p:sp>
      <p:sp>
        <p:nvSpPr>
          <p:cNvPr id="26" name="Text 24"/>
          <p:cNvSpPr/>
          <p:nvPr/>
        </p:nvSpPr>
        <p:spPr>
          <a:xfrm>
            <a:off x="3749040" y="41330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Platforms we build on, not compete with.</a:t>
            </a:r>
            <a:endParaRPr lang="en-US" sz="850" dirty="0"/>
          </a:p>
        </p:txBody>
      </p:sp>
      <p:sp>
        <p:nvSpPr>
          <p:cNvPr id="27" name="Shape 25"/>
          <p:cNvSpPr/>
          <p:nvPr/>
        </p:nvSpPr>
        <p:spPr>
          <a:xfrm>
            <a:off x="6400800" y="1371600"/>
            <a:ext cx="2651760" cy="3246120"/>
          </a:xfrm>
          <a:prstGeom prst="rect">
            <a:avLst/>
          </a:prstGeom>
          <a:solidFill>
            <a:srgbClr val="FFFFFF"/>
          </a:solidFill>
          <a:ln/>
          <a:effectLst>
            <a:outerShdw sx="100000" sy="100000" kx="0" ky="0" algn="bl" rotWithShape="0" blurRad="50800" dist="12700" dir="8100000">
              <a:srgbClr val="000000">
                <a:alpha val="7000"/>
              </a:srgbClr>
            </a:outerShdw>
          </a:effectLst>
        </p:spPr>
      </p:sp>
      <p:sp>
        <p:nvSpPr>
          <p:cNvPr id="28" name="Shape 26"/>
          <p:cNvSpPr/>
          <p:nvPr/>
        </p:nvSpPr>
        <p:spPr>
          <a:xfrm>
            <a:off x="6400800" y="1371600"/>
            <a:ext cx="2651760" cy="54864"/>
          </a:xfrm>
          <a:prstGeom prst="rect">
            <a:avLst/>
          </a:prstGeom>
          <a:solidFill>
            <a:srgbClr val="5A7AB5"/>
          </a:solidFill>
          <a:ln/>
        </p:spPr>
      </p:sp>
      <p:sp>
        <p:nvSpPr>
          <p:cNvPr id="29" name="Text 27"/>
          <p:cNvSpPr/>
          <p:nvPr/>
        </p:nvSpPr>
        <p:spPr>
          <a:xfrm>
            <a:off x="6583680" y="1508760"/>
            <a:ext cx="2286000" cy="274320"/>
          </a:xfrm>
          <a:prstGeom prst="rect">
            <a:avLst/>
          </a:prstGeom>
          <a:noFill/>
          <a:ln/>
        </p:spPr>
        <p:txBody>
          <a:bodyPr wrap="square" lIns="0" tIns="0" rIns="0" bIns="0" rtlCol="0" anchor="ctr"/>
          <a:lstStyle/>
          <a:p>
            <a:pPr indent="0" marL="0">
              <a:buNone/>
            </a:pPr>
            <a:r>
              <a:rPr lang="en-US" sz="1100" b="1" dirty="0">
                <a:solidFill>
                  <a:srgbClr val="5A7AB5"/>
                </a:solidFill>
                <a:latin typeface="Calibri" pitchFamily="34" charset="0"/>
                <a:ea typeface="Calibri" pitchFamily="34" charset="-122"/>
                <a:cs typeface="Calibri" pitchFamily="34" charset="-120"/>
              </a:rPr>
              <a:t>Quietly doing it</a:t>
            </a:r>
            <a:endParaRPr lang="en-US" sz="1100" dirty="0"/>
          </a:p>
        </p:txBody>
      </p:sp>
      <p:sp>
        <p:nvSpPr>
          <p:cNvPr id="30" name="Text 28"/>
          <p:cNvSpPr/>
          <p:nvPr/>
        </p:nvSpPr>
        <p:spPr>
          <a:xfrm>
            <a:off x="6583680" y="18745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Commodity traders</a:t>
            </a:r>
            <a:endParaRPr lang="en-US" sz="1000" dirty="0"/>
          </a:p>
        </p:txBody>
      </p:sp>
      <p:sp>
        <p:nvSpPr>
          <p:cNvPr id="31" name="Text 29"/>
          <p:cNvSpPr/>
          <p:nvPr/>
        </p:nvSpPr>
        <p:spPr>
          <a:xfrm>
            <a:off x="6583680" y="20756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Cargill, ADM, Olam — build internally, don't sell as product.</a:t>
            </a:r>
            <a:endParaRPr lang="en-US" sz="850" dirty="0"/>
          </a:p>
        </p:txBody>
      </p:sp>
      <p:sp>
        <p:nvSpPr>
          <p:cNvPr id="32" name="Text 30"/>
          <p:cNvSpPr/>
          <p:nvPr/>
        </p:nvSpPr>
        <p:spPr>
          <a:xfrm>
            <a:off x="6583680" y="25603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Reinsurers</a:t>
            </a:r>
            <a:endParaRPr lang="en-US" sz="1000" dirty="0"/>
          </a:p>
        </p:txBody>
      </p:sp>
      <p:sp>
        <p:nvSpPr>
          <p:cNvPr id="33" name="Text 31"/>
          <p:cNvSpPr/>
          <p:nvPr/>
        </p:nvSpPr>
        <p:spPr>
          <a:xfrm>
            <a:off x="6583680" y="27614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Swiss Re, Munich Re, AXA Climate — would pay for a defensible signal.</a:t>
            </a:r>
            <a:endParaRPr lang="en-US" sz="850" dirty="0"/>
          </a:p>
        </p:txBody>
      </p:sp>
      <p:sp>
        <p:nvSpPr>
          <p:cNvPr id="34" name="Text 32"/>
          <p:cNvSpPr/>
          <p:nvPr/>
        </p:nvSpPr>
        <p:spPr>
          <a:xfrm>
            <a:off x="6583680" y="3246120"/>
            <a:ext cx="2286000" cy="201168"/>
          </a:xfrm>
          <a:prstGeom prst="rect">
            <a:avLst/>
          </a:prstGeom>
          <a:noFill/>
          <a:ln/>
        </p:spPr>
        <p:txBody>
          <a:bodyPr wrap="square" lIns="0" tIns="0" rIns="0" bIns="0" rtlCol="0" anchor="ctr"/>
          <a:lstStyle/>
          <a:p>
            <a:pPr indent="0" marL="0">
              <a:buNone/>
            </a:pPr>
            <a:r>
              <a:rPr lang="en-US" sz="1000" b="1" dirty="0">
                <a:solidFill>
                  <a:srgbClr val="2B2D2F"/>
                </a:solidFill>
                <a:latin typeface="Calibri" pitchFamily="34" charset="0"/>
                <a:ea typeface="Calibri" pitchFamily="34" charset="-122"/>
                <a:cs typeface="Calibri" pitchFamily="34" charset="-120"/>
              </a:rPr>
              <a:t>Large SIs</a:t>
            </a:r>
            <a:endParaRPr lang="en-US" sz="1000" dirty="0"/>
          </a:p>
        </p:txBody>
      </p:sp>
      <p:sp>
        <p:nvSpPr>
          <p:cNvPr id="35" name="Text 33"/>
          <p:cNvSpPr/>
          <p:nvPr/>
        </p:nvSpPr>
        <p:spPr>
          <a:xfrm>
            <a:off x="6583680" y="3447288"/>
            <a:ext cx="2286000" cy="411480"/>
          </a:xfrm>
          <a:prstGeom prst="rect">
            <a:avLst/>
          </a:prstGeom>
          <a:noFill/>
          <a:ln/>
        </p:spPr>
        <p:txBody>
          <a:bodyPr wrap="square" lIns="0" tIns="0" rIns="0" bIns="0" rtlCol="0" anchor="ctr"/>
          <a:lstStyle/>
          <a:p>
            <a:pPr indent="0" marL="0">
              <a:buNone/>
            </a:pPr>
            <a:r>
              <a:rPr lang="en-US" sz="850" dirty="0">
                <a:solidFill>
                  <a:srgbClr val="7A7A7A"/>
                </a:solidFill>
                <a:latin typeface="Calibri" pitchFamily="34" charset="0"/>
                <a:ea typeface="Calibri" pitchFamily="34" charset="-122"/>
                <a:cs typeface="Calibri" pitchFamily="34" charset="-120"/>
              </a:rPr>
              <a:t>TCS, Infosys, Wipro — win the RFPs, don't own the intelligence layer.</a:t>
            </a:r>
            <a:endParaRPr lang="en-US" sz="850" dirty="0"/>
          </a:p>
        </p:txBody>
      </p:sp>
      <p:sp>
        <p:nvSpPr>
          <p:cNvPr id="36" name="Shape 34"/>
          <p:cNvSpPr/>
          <p:nvPr/>
        </p:nvSpPr>
        <p:spPr>
          <a:xfrm>
            <a:off x="731520" y="4709160"/>
            <a:ext cx="8001000" cy="54864"/>
          </a:xfrm>
          <a:prstGeom prst="rect">
            <a:avLst/>
          </a:prstGeom>
          <a:solidFill>
            <a:srgbClr val="C4703F"/>
          </a:solidFill>
          <a:ln/>
        </p:spPr>
      </p:sp>
      <p:sp>
        <p:nvSpPr>
          <p:cNvPr id="37" name="Text 35"/>
          <p:cNvSpPr/>
          <p:nvPr/>
        </p:nvSpPr>
        <p:spPr>
          <a:xfrm>
            <a:off x="731520" y="4773168"/>
            <a:ext cx="8001000" cy="274320"/>
          </a:xfrm>
          <a:prstGeom prst="rect">
            <a:avLst/>
          </a:prstGeom>
          <a:noFill/>
          <a:ln/>
        </p:spPr>
        <p:txBody>
          <a:bodyPr wrap="square" lIns="0" tIns="0" rIns="0" bIns="0" rtlCol="0" anchor="ctr"/>
          <a:lstStyle/>
          <a:p>
            <a:pPr indent="0" marL="0">
              <a:buNone/>
            </a:pPr>
            <a:r>
              <a:rPr lang="en-US" sz="1050" i="1" dirty="0">
                <a:solidFill>
                  <a:srgbClr val="2B2D2F"/>
                </a:solidFill>
                <a:latin typeface="Calibri" pitchFamily="34" charset="0"/>
                <a:ea typeface="Calibri" pitchFamily="34" charset="-122"/>
                <a:cs typeface="Calibri" pitchFamily="34" charset="-120"/>
              </a:rPr>
              <a:t>No Indian agri-EO company is yet a category winner. That's either the opportunity or the warning sign.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C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36576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THE SCOPE</a:t>
            </a:r>
            <a:endParaRPr lang="en-US" sz="1100" dirty="0"/>
          </a:p>
        </p:txBody>
      </p:sp>
      <p:sp>
        <p:nvSpPr>
          <p:cNvPr id="4" name="Text 2"/>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Same engine, expanding ambition</a:t>
            </a:r>
            <a:endParaRPr lang="en-US" sz="2800" dirty="0"/>
          </a:p>
        </p:txBody>
      </p:sp>
      <p:sp>
        <p:nvSpPr>
          <p:cNvPr id="5" name="Text 3"/>
          <p:cNvSpPr/>
          <p:nvPr/>
        </p:nvSpPr>
        <p:spPr>
          <a:xfrm>
            <a:off x="731520" y="1234440"/>
            <a:ext cx="7772400" cy="365760"/>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Everything below uses the same core: multi-temporal satellite imagery + parcel-level inference + confidence scoring.</a:t>
            </a:r>
            <a:endParaRPr lang="en-US" sz="1150" dirty="0"/>
          </a:p>
        </p:txBody>
      </p:sp>
      <p:sp>
        <p:nvSpPr>
          <p:cNvPr id="6" name="Shape 4"/>
          <p:cNvSpPr/>
          <p:nvPr/>
        </p:nvSpPr>
        <p:spPr>
          <a:xfrm>
            <a:off x="731520" y="1783080"/>
            <a:ext cx="3840480" cy="2880360"/>
          </a:xfrm>
          <a:prstGeom prst="rect">
            <a:avLst/>
          </a:prstGeom>
          <a:solidFill>
            <a:srgbClr val="2E3033"/>
          </a:solidFill>
          <a:ln/>
        </p:spPr>
      </p:sp>
      <p:sp>
        <p:nvSpPr>
          <p:cNvPr id="7" name="Shape 5"/>
          <p:cNvSpPr/>
          <p:nvPr/>
        </p:nvSpPr>
        <p:spPr>
          <a:xfrm>
            <a:off x="731520" y="1783080"/>
            <a:ext cx="3840480" cy="54864"/>
          </a:xfrm>
          <a:prstGeom prst="rect">
            <a:avLst/>
          </a:prstGeom>
          <a:solidFill>
            <a:srgbClr val="4A7C59"/>
          </a:solidFill>
          <a:ln/>
        </p:spPr>
      </p:sp>
      <p:sp>
        <p:nvSpPr>
          <p:cNvPr id="8" name="Text 6"/>
          <p:cNvSpPr/>
          <p:nvPr/>
        </p:nvSpPr>
        <p:spPr>
          <a:xfrm>
            <a:off x="960120" y="1920240"/>
            <a:ext cx="3383280" cy="274320"/>
          </a:xfrm>
          <a:prstGeom prst="rect">
            <a:avLst/>
          </a:prstGeom>
          <a:noFill/>
          <a:ln/>
        </p:spPr>
        <p:txBody>
          <a:bodyPr wrap="square" lIns="0" tIns="0" rIns="0" bIns="0" rtlCol="0" anchor="ctr"/>
          <a:lstStyle/>
          <a:p>
            <a:pPr indent="0" marL="0">
              <a:buNone/>
            </a:pPr>
            <a:r>
              <a:rPr lang="en-US" sz="1200" b="1" dirty="0">
                <a:solidFill>
                  <a:srgbClr val="4A7C59"/>
                </a:solidFill>
                <a:latin typeface="Calibri" pitchFamily="34" charset="0"/>
                <a:ea typeface="Calibri" pitchFamily="34" charset="-122"/>
                <a:cs typeface="Calibri" pitchFamily="34" charset="-120"/>
              </a:rPr>
              <a:t>Near-term (same tech, clear buyer)</a:t>
            </a:r>
            <a:endParaRPr lang="en-US" sz="1200" dirty="0"/>
          </a:p>
        </p:txBody>
      </p:sp>
      <p:sp>
        <p:nvSpPr>
          <p:cNvPr id="9" name="Text 7"/>
          <p:cNvSpPr/>
          <p:nvPr/>
        </p:nvSpPr>
        <p:spPr>
          <a:xfrm>
            <a:off x="960120" y="2286000"/>
            <a:ext cx="338328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Parametric crop insurance</a:t>
            </a:r>
            <a:endParaRPr lang="en-US" sz="1050" dirty="0"/>
          </a:p>
        </p:txBody>
      </p:sp>
      <p:sp>
        <p:nvSpPr>
          <p:cNvPr id="10" name="Text 8"/>
          <p:cNvSpPr/>
          <p:nvPr/>
        </p:nvSpPr>
        <p:spPr>
          <a:xfrm>
            <a:off x="960120" y="2496312"/>
            <a:ext cx="338328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Auto-settle PMFBY claims from imagery. No surveyor, no queue.</a:t>
            </a:r>
            <a:endParaRPr lang="en-US" sz="900" dirty="0"/>
          </a:p>
        </p:txBody>
      </p:sp>
      <p:sp>
        <p:nvSpPr>
          <p:cNvPr id="11" name="Text 9"/>
          <p:cNvSpPr/>
          <p:nvPr/>
        </p:nvSpPr>
        <p:spPr>
          <a:xfrm>
            <a:off x="960120" y="2862072"/>
            <a:ext cx="338328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Acreage / yield data feed</a:t>
            </a:r>
            <a:endParaRPr lang="en-US" sz="1050" dirty="0"/>
          </a:p>
        </p:txBody>
      </p:sp>
      <p:sp>
        <p:nvSpPr>
          <p:cNvPr id="12" name="Text 10"/>
          <p:cNvSpPr/>
          <p:nvPr/>
        </p:nvSpPr>
        <p:spPr>
          <a:xfrm>
            <a:off x="960120" y="3072384"/>
            <a:ext cx="338328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Traders and hedge funds pay for harvest signal 2–4 weeks early.</a:t>
            </a:r>
            <a:endParaRPr lang="en-US" sz="900" dirty="0"/>
          </a:p>
        </p:txBody>
      </p:sp>
      <p:sp>
        <p:nvSpPr>
          <p:cNvPr id="13" name="Text 11"/>
          <p:cNvSpPr/>
          <p:nvPr/>
        </p:nvSpPr>
        <p:spPr>
          <a:xfrm>
            <a:off x="960120" y="3438144"/>
            <a:ext cx="338328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Parcel-level credit scoring</a:t>
            </a:r>
            <a:endParaRPr lang="en-US" sz="1050" dirty="0"/>
          </a:p>
        </p:txBody>
      </p:sp>
      <p:sp>
        <p:nvSpPr>
          <p:cNvPr id="14" name="Text 12"/>
          <p:cNvSpPr/>
          <p:nvPr/>
        </p:nvSpPr>
        <p:spPr>
          <a:xfrm>
            <a:off x="960120" y="3648456"/>
            <a:ext cx="338328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Lend on 3 seasons of cropping history, not a CIBIL score.</a:t>
            </a:r>
            <a:endParaRPr lang="en-US" sz="900" dirty="0"/>
          </a:p>
        </p:txBody>
      </p:sp>
      <p:sp>
        <p:nvSpPr>
          <p:cNvPr id="15" name="Text 13"/>
          <p:cNvSpPr/>
          <p:nvPr/>
        </p:nvSpPr>
        <p:spPr>
          <a:xfrm>
            <a:off x="960120" y="4014216"/>
            <a:ext cx="338328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MSP fraud detection</a:t>
            </a:r>
            <a:endParaRPr lang="en-US" sz="1050" dirty="0"/>
          </a:p>
        </p:txBody>
      </p:sp>
      <p:sp>
        <p:nvSpPr>
          <p:cNvPr id="16" name="Text 14"/>
          <p:cNvSpPr/>
          <p:nvPr/>
        </p:nvSpPr>
        <p:spPr>
          <a:xfrm>
            <a:off x="960120" y="4224528"/>
            <a:ext cx="338328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Cross-check procurement claims against actually-cultivated parcels.</a:t>
            </a:r>
            <a:endParaRPr lang="en-US" sz="900" dirty="0"/>
          </a:p>
        </p:txBody>
      </p:sp>
      <p:sp>
        <p:nvSpPr>
          <p:cNvPr id="17" name="Shape 15"/>
          <p:cNvSpPr/>
          <p:nvPr/>
        </p:nvSpPr>
        <p:spPr>
          <a:xfrm>
            <a:off x="4846320" y="1783080"/>
            <a:ext cx="3931920" cy="2880360"/>
          </a:xfrm>
          <a:prstGeom prst="rect">
            <a:avLst/>
          </a:prstGeom>
          <a:solidFill>
            <a:srgbClr val="2E3033"/>
          </a:solidFill>
          <a:ln/>
        </p:spPr>
      </p:sp>
      <p:sp>
        <p:nvSpPr>
          <p:cNvPr id="18" name="Shape 16"/>
          <p:cNvSpPr/>
          <p:nvPr/>
        </p:nvSpPr>
        <p:spPr>
          <a:xfrm>
            <a:off x="4846320" y="1783080"/>
            <a:ext cx="3931920" cy="54864"/>
          </a:xfrm>
          <a:prstGeom prst="rect">
            <a:avLst/>
          </a:prstGeom>
          <a:solidFill>
            <a:srgbClr val="C4703F"/>
          </a:solidFill>
          <a:ln/>
        </p:spPr>
      </p:sp>
      <p:sp>
        <p:nvSpPr>
          <p:cNvPr id="19" name="Text 17"/>
          <p:cNvSpPr/>
          <p:nvPr/>
        </p:nvSpPr>
        <p:spPr>
          <a:xfrm>
            <a:off x="5074920" y="1920240"/>
            <a:ext cx="3474720" cy="274320"/>
          </a:xfrm>
          <a:prstGeom prst="rect">
            <a:avLst/>
          </a:prstGeom>
          <a:noFill/>
          <a:ln/>
        </p:spPr>
        <p:txBody>
          <a:bodyPr wrap="square" lIns="0" tIns="0" rIns="0" bIns="0" rtlCol="0" anchor="ctr"/>
          <a:lstStyle/>
          <a:p>
            <a:pPr indent="0" marL="0">
              <a:buNone/>
            </a:pPr>
            <a:r>
              <a:rPr lang="en-US" sz="1200" b="1" dirty="0">
                <a:solidFill>
                  <a:srgbClr val="C4703F"/>
                </a:solidFill>
                <a:latin typeface="Calibri" pitchFamily="34" charset="0"/>
                <a:ea typeface="Calibri" pitchFamily="34" charset="-122"/>
                <a:cs typeface="Calibri" pitchFamily="34" charset="-120"/>
              </a:rPr>
              <a:t>Moonshots (same engine, bigger swing)</a:t>
            </a:r>
            <a:endParaRPr lang="en-US" sz="1200" dirty="0"/>
          </a:p>
        </p:txBody>
      </p:sp>
      <p:sp>
        <p:nvSpPr>
          <p:cNvPr id="20" name="Text 18"/>
          <p:cNvSpPr/>
          <p:nvPr/>
        </p:nvSpPr>
        <p:spPr>
          <a:xfrm>
            <a:off x="5074920" y="2286000"/>
            <a:ext cx="347472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Smallholder carbon MRV</a:t>
            </a:r>
            <a:endParaRPr lang="en-US" sz="1050" dirty="0"/>
          </a:p>
        </p:txBody>
      </p:sp>
      <p:sp>
        <p:nvSpPr>
          <p:cNvPr id="21" name="Text 19"/>
          <p:cNvSpPr/>
          <p:nvPr/>
        </p:nvSpPr>
        <p:spPr>
          <a:xfrm>
            <a:off x="5074920" y="2496312"/>
            <a:ext cx="347472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Per-parcel MRV at $0.50 instead of $50. Cracks the offset market.</a:t>
            </a:r>
            <a:endParaRPr lang="en-US" sz="900" dirty="0"/>
          </a:p>
        </p:txBody>
      </p:sp>
      <p:sp>
        <p:nvSpPr>
          <p:cNvPr id="22" name="Text 20"/>
          <p:cNvSpPr/>
          <p:nvPr/>
        </p:nvSpPr>
        <p:spPr>
          <a:xfrm>
            <a:off x="5074920" y="2862072"/>
            <a:ext cx="347472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Sub-national GDP estimates</a:t>
            </a:r>
            <a:endParaRPr lang="en-US" sz="1050" dirty="0"/>
          </a:p>
        </p:txBody>
      </p:sp>
      <p:sp>
        <p:nvSpPr>
          <p:cNvPr id="23" name="Text 21"/>
          <p:cNvSpPr/>
          <p:nvPr/>
        </p:nvSpPr>
        <p:spPr>
          <a:xfrm>
            <a:off x="5074920" y="3072384"/>
            <a:ext cx="347472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District-level economic data via cropping intensity as proxy.</a:t>
            </a:r>
            <a:endParaRPr lang="en-US" sz="900" dirty="0"/>
          </a:p>
        </p:txBody>
      </p:sp>
      <p:sp>
        <p:nvSpPr>
          <p:cNvPr id="24" name="Text 22"/>
          <p:cNvSpPr/>
          <p:nvPr/>
        </p:nvSpPr>
        <p:spPr>
          <a:xfrm>
            <a:off x="5074920" y="3438144"/>
            <a:ext cx="347472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Famine / food-security early warning</a:t>
            </a:r>
            <a:endParaRPr lang="en-US" sz="1050" dirty="0"/>
          </a:p>
        </p:txBody>
      </p:sp>
      <p:sp>
        <p:nvSpPr>
          <p:cNvPr id="25" name="Text 23"/>
          <p:cNvSpPr/>
          <p:nvPr/>
        </p:nvSpPr>
        <p:spPr>
          <a:xfrm>
            <a:off x="5074920" y="3648456"/>
            <a:ext cx="347472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WFP, FAO, USAID stuck on coarse FEWS NET data.</a:t>
            </a:r>
            <a:endParaRPr lang="en-US" sz="900" dirty="0"/>
          </a:p>
        </p:txBody>
      </p:sp>
      <p:sp>
        <p:nvSpPr>
          <p:cNvPr id="26" name="Text 24"/>
          <p:cNvSpPr/>
          <p:nvPr/>
        </p:nvSpPr>
        <p:spPr>
          <a:xfrm>
            <a:off x="5074920" y="4014216"/>
            <a:ext cx="347472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Climate adaptation finance scoring</a:t>
            </a:r>
            <a:endParaRPr lang="en-US" sz="1050" dirty="0"/>
          </a:p>
        </p:txBody>
      </p:sp>
      <p:sp>
        <p:nvSpPr>
          <p:cNvPr id="27" name="Text 25"/>
          <p:cNvSpPr/>
          <p:nvPr/>
        </p:nvSpPr>
        <p:spPr>
          <a:xfrm>
            <a:off x="5074920" y="4224528"/>
            <a:ext cx="3474720" cy="292608"/>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Village-level vulnerability indices for World Bank, ADB, GCF.</a:t>
            </a:r>
            <a:endParaRPr lang="en-US" sz="900" dirty="0"/>
          </a:p>
        </p:txBody>
      </p:sp>
      <p:sp>
        <p:nvSpPr>
          <p:cNvPr id="28" name="Shape 26"/>
          <p:cNvSpPr/>
          <p:nvPr/>
        </p:nvSpPr>
        <p:spPr>
          <a:xfrm>
            <a:off x="731520" y="4754880"/>
            <a:ext cx="8001000" cy="54864"/>
          </a:xfrm>
          <a:prstGeom prst="rect">
            <a:avLst/>
          </a:prstGeom>
          <a:solidFill>
            <a:srgbClr val="C4703F"/>
          </a:solidFill>
          <a:ln/>
        </p:spPr>
      </p:sp>
      <p:sp>
        <p:nvSpPr>
          <p:cNvPr id="29" name="Text 27"/>
          <p:cNvSpPr/>
          <p:nvPr/>
        </p:nvSpPr>
        <p:spPr>
          <a:xfrm>
            <a:off x="731520" y="4818888"/>
            <a:ext cx="8001000" cy="274320"/>
          </a:xfrm>
          <a:prstGeom prst="rect">
            <a:avLst/>
          </a:prstGeom>
          <a:noFill/>
          <a:ln/>
        </p:spPr>
        <p:txBody>
          <a:bodyPr wrap="square" lIns="0" tIns="0" rIns="0" bIns="0" rtlCol="0" anchor="ctr"/>
          <a:lstStyle/>
          <a:p>
            <a:pPr indent="0" marL="0">
              <a:buNone/>
            </a:pPr>
            <a:r>
              <a:rPr lang="en-US" sz="1000" i="1" dirty="0">
                <a:solidFill>
                  <a:srgbClr val="AAAAAA"/>
                </a:solidFill>
                <a:latin typeface="Calibri" pitchFamily="34" charset="0"/>
                <a:ea typeface="Calibri" pitchFamily="34" charset="-122"/>
                <a:cs typeface="Calibri" pitchFamily="34" charset="-120"/>
              </a:rPr>
              <a:t>The pattern: every one has a buyer already trying to solve the problem with worse data. We don't create demand. We become the better signal.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C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4703F"/>
          </a:solidFill>
          <a:ln/>
        </p:spPr>
      </p:sp>
      <p:sp>
        <p:nvSpPr>
          <p:cNvPr id="3" name="Text 1"/>
          <p:cNvSpPr/>
          <p:nvPr/>
        </p:nvSpPr>
        <p:spPr>
          <a:xfrm>
            <a:off x="731520" y="365760"/>
            <a:ext cx="3657600" cy="274320"/>
          </a:xfrm>
          <a:prstGeom prst="rect">
            <a:avLst/>
          </a:prstGeom>
          <a:noFill/>
          <a:ln/>
        </p:spPr>
        <p:txBody>
          <a:bodyPr wrap="square" lIns="0" tIns="0" rIns="0" bIns="0" rtlCol="0" anchor="ctr"/>
          <a:lstStyle/>
          <a:p>
            <a:pPr indent="0" marL="0">
              <a:buNone/>
            </a:pPr>
            <a:r>
              <a:rPr lang="en-US" sz="1100" b="1" spc="500" kern="0" dirty="0">
                <a:solidFill>
                  <a:srgbClr val="C4703F"/>
                </a:solidFill>
                <a:latin typeface="Calibri" pitchFamily="34" charset="0"/>
                <a:ea typeface="Calibri" pitchFamily="34" charset="-122"/>
                <a:cs typeface="Calibri" pitchFamily="34" charset="-120"/>
              </a:rPr>
              <a:t>THE COST</a:t>
            </a:r>
            <a:endParaRPr lang="en-US" sz="1100" dirty="0"/>
          </a:p>
        </p:txBody>
      </p:sp>
      <p:sp>
        <p:nvSpPr>
          <p:cNvPr id="4" name="Text 2"/>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Demo sprint: what it takes</a:t>
            </a:r>
            <a:endParaRPr lang="en-US" sz="2800" dirty="0"/>
          </a:p>
        </p:txBody>
      </p:sp>
      <p:sp>
        <p:nvSpPr>
          <p:cNvPr id="5" name="Text 3"/>
          <p:cNvSpPr/>
          <p:nvPr/>
        </p:nvSpPr>
        <p:spPr>
          <a:xfrm>
            <a:off x="731520" y="1234440"/>
            <a:ext cx="7772400" cy="320040"/>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4-week sprint cost, excluding VB's own time. All estimates in INR.</a:t>
            </a:r>
            <a:endParaRPr lang="en-US" sz="1200" dirty="0"/>
          </a:p>
        </p:txBody>
      </p:sp>
      <p:sp>
        <p:nvSpPr>
          <p:cNvPr id="6" name="Shape 4"/>
          <p:cNvSpPr/>
          <p:nvPr/>
        </p:nvSpPr>
        <p:spPr>
          <a:xfrm>
            <a:off x="731520" y="1737360"/>
            <a:ext cx="3840480" cy="2880360"/>
          </a:xfrm>
          <a:prstGeom prst="rect">
            <a:avLst/>
          </a:prstGeom>
          <a:solidFill>
            <a:srgbClr val="2E3033"/>
          </a:solidFill>
          <a:ln/>
        </p:spPr>
      </p:sp>
      <p:sp>
        <p:nvSpPr>
          <p:cNvPr id="7" name="Shape 5"/>
          <p:cNvSpPr/>
          <p:nvPr/>
        </p:nvSpPr>
        <p:spPr>
          <a:xfrm>
            <a:off x="731520" y="1737360"/>
            <a:ext cx="3840480" cy="54864"/>
          </a:xfrm>
          <a:prstGeom prst="rect">
            <a:avLst/>
          </a:prstGeom>
          <a:solidFill>
            <a:srgbClr val="C4703F"/>
          </a:solidFill>
          <a:ln/>
        </p:spPr>
      </p:sp>
      <p:sp>
        <p:nvSpPr>
          <p:cNvPr id="8" name="Text 6"/>
          <p:cNvSpPr/>
          <p:nvPr/>
        </p:nvSpPr>
        <p:spPr>
          <a:xfrm>
            <a:off x="960120" y="1920240"/>
            <a:ext cx="33832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Manpower</a:t>
            </a:r>
            <a:endParaRPr lang="en-US" sz="1400" dirty="0"/>
          </a:p>
        </p:txBody>
      </p:sp>
      <p:sp>
        <p:nvSpPr>
          <p:cNvPr id="9" name="Text 7"/>
          <p:cNvSpPr/>
          <p:nvPr/>
        </p:nvSpPr>
        <p:spPr>
          <a:xfrm>
            <a:off x="960120" y="2331720"/>
            <a:ext cx="23774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Frontend / fullstack engineer</a:t>
            </a:r>
            <a:endParaRPr lang="en-US" sz="1100" dirty="0"/>
          </a:p>
        </p:txBody>
      </p:sp>
      <p:sp>
        <p:nvSpPr>
          <p:cNvPr id="10" name="Text 8"/>
          <p:cNvSpPr/>
          <p:nvPr/>
        </p:nvSpPr>
        <p:spPr>
          <a:xfrm>
            <a:off x="3337560" y="2331720"/>
            <a:ext cx="1097280" cy="228600"/>
          </a:xfrm>
          <a:prstGeom prst="rect">
            <a:avLst/>
          </a:prstGeom>
          <a:noFill/>
          <a:ln/>
        </p:spPr>
        <p:txBody>
          <a:bodyPr wrap="square" lIns="0" tIns="0" rIns="0" bIns="0" rtlCol="0" anchor="ctr"/>
          <a:lstStyle/>
          <a:p>
            <a:pPr algn="r" indent="0" marL="0">
              <a:buNone/>
            </a:pPr>
            <a:r>
              <a:rPr lang="en-US" sz="1100" b="1" dirty="0">
                <a:solidFill>
                  <a:srgbClr val="C4703F"/>
                </a:solidFill>
                <a:latin typeface="Calibri" pitchFamily="34" charset="0"/>
                <a:ea typeface="Calibri" pitchFamily="34" charset="-122"/>
                <a:cs typeface="Calibri" pitchFamily="34" charset="-120"/>
              </a:rPr>
              <a:t>1.5 – 2.5L</a:t>
            </a:r>
            <a:endParaRPr lang="en-US" sz="1100" dirty="0"/>
          </a:p>
        </p:txBody>
      </p:sp>
      <p:sp>
        <p:nvSpPr>
          <p:cNvPr id="11" name="Text 9"/>
          <p:cNvSpPr/>
          <p:nvPr/>
        </p:nvSpPr>
        <p:spPr>
          <a:xfrm>
            <a:off x="960120" y="2587752"/>
            <a:ext cx="3383280" cy="32004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MapLibre, parcel inspector, time slider, charts, explain card, API panel</a:t>
            </a:r>
            <a:endParaRPr lang="en-US" sz="900" dirty="0"/>
          </a:p>
        </p:txBody>
      </p:sp>
      <p:sp>
        <p:nvSpPr>
          <p:cNvPr id="12" name="Text 10"/>
          <p:cNvSpPr/>
          <p:nvPr/>
        </p:nvSpPr>
        <p:spPr>
          <a:xfrm>
            <a:off x="960120" y="2880360"/>
            <a:ext cx="3383280" cy="201168"/>
          </a:xfrm>
          <a:prstGeom prst="rect">
            <a:avLst/>
          </a:prstGeom>
          <a:noFill/>
          <a:ln/>
        </p:spPr>
        <p:txBody>
          <a:bodyPr wrap="square" lIns="0" tIns="0" rIns="0" bIns="0"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3–4 weeks</a:t>
            </a:r>
            <a:endParaRPr lang="en-US" sz="900" dirty="0"/>
          </a:p>
        </p:txBody>
      </p:sp>
      <p:sp>
        <p:nvSpPr>
          <p:cNvPr id="13" name="Text 11"/>
          <p:cNvSpPr/>
          <p:nvPr/>
        </p:nvSpPr>
        <p:spPr>
          <a:xfrm>
            <a:off x="960120" y="3383280"/>
            <a:ext cx="23774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Label annotation help</a:t>
            </a:r>
            <a:endParaRPr lang="en-US" sz="1100" dirty="0"/>
          </a:p>
        </p:txBody>
      </p:sp>
      <p:sp>
        <p:nvSpPr>
          <p:cNvPr id="14" name="Text 12"/>
          <p:cNvSpPr/>
          <p:nvPr/>
        </p:nvSpPr>
        <p:spPr>
          <a:xfrm>
            <a:off x="3337560" y="3383280"/>
            <a:ext cx="1097280" cy="228600"/>
          </a:xfrm>
          <a:prstGeom prst="rect">
            <a:avLst/>
          </a:prstGeom>
          <a:noFill/>
          <a:ln/>
        </p:spPr>
        <p:txBody>
          <a:bodyPr wrap="square" lIns="0" tIns="0" rIns="0" bIns="0" rtlCol="0" anchor="ctr"/>
          <a:lstStyle/>
          <a:p>
            <a:pPr algn="r" indent="0" marL="0">
              <a:buNone/>
            </a:pPr>
            <a:r>
              <a:rPr lang="en-US" sz="1100" b="1" dirty="0">
                <a:solidFill>
                  <a:srgbClr val="C4703F"/>
                </a:solidFill>
                <a:latin typeface="Calibri" pitchFamily="34" charset="0"/>
                <a:ea typeface="Calibri" pitchFamily="34" charset="-122"/>
                <a:cs typeface="Calibri" pitchFamily="34" charset="-120"/>
              </a:rPr>
              <a:t>Negligible (intern)</a:t>
            </a:r>
            <a:endParaRPr lang="en-US" sz="1100" dirty="0"/>
          </a:p>
        </p:txBody>
      </p:sp>
      <p:sp>
        <p:nvSpPr>
          <p:cNvPr id="15" name="Text 13"/>
          <p:cNvSpPr/>
          <p:nvPr/>
        </p:nvSpPr>
        <p:spPr>
          <a:xfrm>
            <a:off x="960120" y="3639312"/>
            <a:ext cx="3383280" cy="32004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150–200 manual visual labels via Google Earth (weekend task)</a:t>
            </a:r>
            <a:endParaRPr lang="en-US" sz="900" dirty="0"/>
          </a:p>
        </p:txBody>
      </p:sp>
      <p:sp>
        <p:nvSpPr>
          <p:cNvPr id="16" name="Text 14"/>
          <p:cNvSpPr/>
          <p:nvPr/>
        </p:nvSpPr>
        <p:spPr>
          <a:xfrm>
            <a:off x="960120" y="3931920"/>
            <a:ext cx="3383280" cy="201168"/>
          </a:xfrm>
          <a:prstGeom prst="rect">
            <a:avLst/>
          </a:prstGeom>
          <a:noFill/>
          <a:ln/>
        </p:spPr>
        <p:txBody>
          <a:bodyPr wrap="square" lIns="0" tIns="0" rIns="0" bIns="0"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2 days</a:t>
            </a:r>
            <a:endParaRPr lang="en-US" sz="900" dirty="0"/>
          </a:p>
        </p:txBody>
      </p:sp>
      <p:sp>
        <p:nvSpPr>
          <p:cNvPr id="17" name="Shape 15"/>
          <p:cNvSpPr/>
          <p:nvPr/>
        </p:nvSpPr>
        <p:spPr>
          <a:xfrm>
            <a:off x="4846320" y="1737360"/>
            <a:ext cx="3931920" cy="2880360"/>
          </a:xfrm>
          <a:prstGeom prst="rect">
            <a:avLst/>
          </a:prstGeom>
          <a:solidFill>
            <a:srgbClr val="2E3033"/>
          </a:solidFill>
          <a:ln/>
        </p:spPr>
      </p:sp>
      <p:sp>
        <p:nvSpPr>
          <p:cNvPr id="18" name="Shape 16"/>
          <p:cNvSpPr/>
          <p:nvPr/>
        </p:nvSpPr>
        <p:spPr>
          <a:xfrm>
            <a:off x="4846320" y="1737360"/>
            <a:ext cx="3931920" cy="54864"/>
          </a:xfrm>
          <a:prstGeom prst="rect">
            <a:avLst/>
          </a:prstGeom>
          <a:solidFill>
            <a:srgbClr val="4A7C59"/>
          </a:solidFill>
          <a:ln/>
        </p:spPr>
      </p:sp>
      <p:sp>
        <p:nvSpPr>
          <p:cNvPr id="19" name="Text 17"/>
          <p:cNvSpPr/>
          <p:nvPr/>
        </p:nvSpPr>
        <p:spPr>
          <a:xfrm>
            <a:off x="5074920" y="1920240"/>
            <a:ext cx="34747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Infrastructure</a:t>
            </a:r>
            <a:endParaRPr lang="en-US" sz="1400" dirty="0"/>
          </a:p>
        </p:txBody>
      </p:sp>
      <p:sp>
        <p:nvSpPr>
          <p:cNvPr id="20" name="Text 18"/>
          <p:cNvSpPr/>
          <p:nvPr/>
        </p:nvSpPr>
        <p:spPr>
          <a:xfrm>
            <a:off x="5074920" y="2331720"/>
            <a:ext cx="201168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Satellite imagery</a:t>
            </a:r>
            <a:endParaRPr lang="en-US" sz="1000" dirty="0"/>
          </a:p>
        </p:txBody>
      </p:sp>
      <p:sp>
        <p:nvSpPr>
          <p:cNvPr id="21" name="Text 19"/>
          <p:cNvSpPr/>
          <p:nvPr/>
        </p:nvSpPr>
        <p:spPr>
          <a:xfrm>
            <a:off x="7543800" y="2331720"/>
            <a:ext cx="1005840" cy="201168"/>
          </a:xfrm>
          <a:prstGeom prst="rect">
            <a:avLst/>
          </a:prstGeom>
          <a:noFill/>
          <a:ln/>
        </p:spPr>
        <p:txBody>
          <a:bodyPr wrap="square" lIns="0" tIns="0" rIns="0" bIns="0" rtlCol="0" anchor="ctr"/>
          <a:lstStyle/>
          <a:p>
            <a:pPr algn="r" indent="0" marL="0">
              <a:buNone/>
            </a:pPr>
            <a:r>
              <a:rPr lang="en-US" sz="1000" b="1" dirty="0">
                <a:solidFill>
                  <a:srgbClr val="C4703F"/>
                </a:solidFill>
                <a:latin typeface="Calibri" pitchFamily="34" charset="0"/>
                <a:ea typeface="Calibri" pitchFamily="34" charset="-122"/>
                <a:cs typeface="Calibri" pitchFamily="34" charset="-120"/>
              </a:rPr>
              <a:t>Free</a:t>
            </a:r>
            <a:endParaRPr lang="en-US" sz="1000" dirty="0"/>
          </a:p>
        </p:txBody>
      </p:sp>
      <p:sp>
        <p:nvSpPr>
          <p:cNvPr id="22" name="Text 20"/>
          <p:cNvSpPr/>
          <p:nvPr/>
        </p:nvSpPr>
        <p:spPr>
          <a:xfrm>
            <a:off x="5074920" y="2532888"/>
            <a:ext cx="3474720" cy="201168"/>
          </a:xfrm>
          <a:prstGeom prst="rect">
            <a:avLst/>
          </a:prstGeom>
          <a:noFill/>
          <a:ln/>
        </p:spPr>
        <p:txBody>
          <a:bodyPr wrap="square" lIns="0" tIns="0" rIns="0" bIns="0" rtlCol="0" anchor="ctr"/>
          <a:lstStyle/>
          <a:p>
            <a:pPr indent="0" marL="0">
              <a:buNone/>
            </a:pPr>
            <a:r>
              <a:rPr lang="en-US" sz="850" dirty="0">
                <a:solidFill>
                  <a:srgbClr val="999999"/>
                </a:solidFill>
                <a:latin typeface="Calibri" pitchFamily="34" charset="0"/>
                <a:ea typeface="Calibri" pitchFamily="34" charset="-122"/>
                <a:cs typeface="Calibri" pitchFamily="34" charset="-120"/>
              </a:rPr>
              <a:t>Sentinel-2 + Sentinel-1 (Copernicus / Earth Engine)</a:t>
            </a:r>
            <a:endParaRPr lang="en-US" sz="850" dirty="0"/>
          </a:p>
        </p:txBody>
      </p:sp>
      <p:sp>
        <p:nvSpPr>
          <p:cNvPr id="23" name="Text 21"/>
          <p:cNvSpPr/>
          <p:nvPr/>
        </p:nvSpPr>
        <p:spPr>
          <a:xfrm>
            <a:off x="5074920" y="2807208"/>
            <a:ext cx="201168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Reference datasets</a:t>
            </a:r>
            <a:endParaRPr lang="en-US" sz="1000" dirty="0"/>
          </a:p>
        </p:txBody>
      </p:sp>
      <p:sp>
        <p:nvSpPr>
          <p:cNvPr id="24" name="Text 22"/>
          <p:cNvSpPr/>
          <p:nvPr/>
        </p:nvSpPr>
        <p:spPr>
          <a:xfrm>
            <a:off x="7543800" y="2807208"/>
            <a:ext cx="1005840" cy="201168"/>
          </a:xfrm>
          <a:prstGeom prst="rect">
            <a:avLst/>
          </a:prstGeom>
          <a:noFill/>
          <a:ln/>
        </p:spPr>
        <p:txBody>
          <a:bodyPr wrap="square" lIns="0" tIns="0" rIns="0" bIns="0" rtlCol="0" anchor="ctr"/>
          <a:lstStyle/>
          <a:p>
            <a:pPr algn="r" indent="0" marL="0">
              <a:buNone/>
            </a:pPr>
            <a:r>
              <a:rPr lang="en-US" sz="1000" b="1" dirty="0">
                <a:solidFill>
                  <a:srgbClr val="C4703F"/>
                </a:solidFill>
                <a:latin typeface="Calibri" pitchFamily="34" charset="0"/>
                <a:ea typeface="Calibri" pitchFamily="34" charset="-122"/>
                <a:cs typeface="Calibri" pitchFamily="34" charset="-120"/>
              </a:rPr>
              <a:t>Free</a:t>
            </a:r>
            <a:endParaRPr lang="en-US" sz="1000" dirty="0"/>
          </a:p>
        </p:txBody>
      </p:sp>
      <p:sp>
        <p:nvSpPr>
          <p:cNvPr id="25" name="Text 23"/>
          <p:cNvSpPr/>
          <p:nvPr/>
        </p:nvSpPr>
        <p:spPr>
          <a:xfrm>
            <a:off x="5074920" y="3008376"/>
            <a:ext cx="3474720" cy="201168"/>
          </a:xfrm>
          <a:prstGeom prst="rect">
            <a:avLst/>
          </a:prstGeom>
          <a:noFill/>
          <a:ln/>
        </p:spPr>
        <p:txBody>
          <a:bodyPr wrap="square" lIns="0" tIns="0" rIns="0" bIns="0" rtlCol="0" anchor="ctr"/>
          <a:lstStyle/>
          <a:p>
            <a:pPr indent="0" marL="0">
              <a:buNone/>
            </a:pPr>
            <a:r>
              <a:rPr lang="en-US" sz="850" dirty="0">
                <a:solidFill>
                  <a:srgbClr val="999999"/>
                </a:solidFill>
                <a:latin typeface="Calibri" pitchFamily="34" charset="0"/>
                <a:ea typeface="Calibri" pitchFamily="34" charset="-122"/>
                <a:cs typeface="Calibri" pitchFamily="34" charset="-120"/>
              </a:rPr>
              <a:t>WorldCereal, Bhuvan, Dynamic World, OSM</a:t>
            </a:r>
            <a:endParaRPr lang="en-US" sz="850" dirty="0"/>
          </a:p>
        </p:txBody>
      </p:sp>
      <p:sp>
        <p:nvSpPr>
          <p:cNvPr id="26" name="Text 24"/>
          <p:cNvSpPr/>
          <p:nvPr/>
        </p:nvSpPr>
        <p:spPr>
          <a:xfrm>
            <a:off x="5074920" y="3282696"/>
            <a:ext cx="201168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GPU compute</a:t>
            </a:r>
            <a:endParaRPr lang="en-US" sz="1000" dirty="0"/>
          </a:p>
        </p:txBody>
      </p:sp>
      <p:sp>
        <p:nvSpPr>
          <p:cNvPr id="27" name="Text 25"/>
          <p:cNvSpPr/>
          <p:nvPr/>
        </p:nvSpPr>
        <p:spPr>
          <a:xfrm>
            <a:off x="7543800" y="3282696"/>
            <a:ext cx="1005840" cy="201168"/>
          </a:xfrm>
          <a:prstGeom prst="rect">
            <a:avLst/>
          </a:prstGeom>
          <a:noFill/>
          <a:ln/>
        </p:spPr>
        <p:txBody>
          <a:bodyPr wrap="square" lIns="0" tIns="0" rIns="0" bIns="0" rtlCol="0" anchor="ctr"/>
          <a:lstStyle/>
          <a:p>
            <a:pPr algn="r" indent="0" marL="0">
              <a:buNone/>
            </a:pPr>
            <a:r>
              <a:rPr lang="en-US" sz="1000" b="1" dirty="0">
                <a:solidFill>
                  <a:srgbClr val="C4703F"/>
                </a:solidFill>
                <a:latin typeface="Calibri" pitchFamily="34" charset="0"/>
                <a:ea typeface="Calibri" pitchFamily="34" charset="-122"/>
                <a:cs typeface="Calibri" pitchFamily="34" charset="-120"/>
              </a:rPr>
              <a:t>500 – 1K</a:t>
            </a:r>
            <a:endParaRPr lang="en-US" sz="1000" dirty="0"/>
          </a:p>
        </p:txBody>
      </p:sp>
      <p:sp>
        <p:nvSpPr>
          <p:cNvPr id="28" name="Text 26"/>
          <p:cNvSpPr/>
          <p:nvPr/>
        </p:nvSpPr>
        <p:spPr>
          <a:xfrm>
            <a:off x="5074920" y="3483864"/>
            <a:ext cx="3474720" cy="201168"/>
          </a:xfrm>
          <a:prstGeom prst="rect">
            <a:avLst/>
          </a:prstGeom>
          <a:noFill/>
          <a:ln/>
        </p:spPr>
        <p:txBody>
          <a:bodyPr wrap="square" lIns="0" tIns="0" rIns="0" bIns="0" rtlCol="0" anchor="ctr"/>
          <a:lstStyle/>
          <a:p>
            <a:pPr indent="0" marL="0">
              <a:buNone/>
            </a:pPr>
            <a:r>
              <a:rPr lang="en-US" sz="850" dirty="0">
                <a:solidFill>
                  <a:srgbClr val="999999"/>
                </a:solidFill>
                <a:latin typeface="Calibri" pitchFamily="34" charset="0"/>
                <a:ea typeface="Calibri" pitchFamily="34" charset="-122"/>
                <a:cs typeface="Calibri" pitchFamily="34" charset="-120"/>
              </a:rPr>
              <a:t>Model inference batch job (A10/T4, few hours)</a:t>
            </a:r>
            <a:endParaRPr lang="en-US" sz="850" dirty="0"/>
          </a:p>
        </p:txBody>
      </p:sp>
      <p:sp>
        <p:nvSpPr>
          <p:cNvPr id="29" name="Text 27"/>
          <p:cNvSpPr/>
          <p:nvPr/>
        </p:nvSpPr>
        <p:spPr>
          <a:xfrm>
            <a:off x="5074920" y="3758184"/>
            <a:ext cx="201168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Hosting</a:t>
            </a:r>
            <a:endParaRPr lang="en-US" sz="1000" dirty="0"/>
          </a:p>
        </p:txBody>
      </p:sp>
      <p:sp>
        <p:nvSpPr>
          <p:cNvPr id="30" name="Text 28"/>
          <p:cNvSpPr/>
          <p:nvPr/>
        </p:nvSpPr>
        <p:spPr>
          <a:xfrm>
            <a:off x="7543800" y="3758184"/>
            <a:ext cx="1005840" cy="201168"/>
          </a:xfrm>
          <a:prstGeom prst="rect">
            <a:avLst/>
          </a:prstGeom>
          <a:noFill/>
          <a:ln/>
        </p:spPr>
        <p:txBody>
          <a:bodyPr wrap="square" lIns="0" tIns="0" rIns="0" bIns="0" rtlCol="0" anchor="ctr"/>
          <a:lstStyle/>
          <a:p>
            <a:pPr algn="r" indent="0" marL="0">
              <a:buNone/>
            </a:pPr>
            <a:r>
              <a:rPr lang="en-US" sz="1000" b="1" dirty="0">
                <a:solidFill>
                  <a:srgbClr val="C4703F"/>
                </a:solidFill>
                <a:latin typeface="Calibri" pitchFamily="34" charset="0"/>
                <a:ea typeface="Calibri" pitchFamily="34" charset="-122"/>
                <a:cs typeface="Calibri" pitchFamily="34" charset="-120"/>
              </a:rPr>
              <a:t>Free tier</a:t>
            </a:r>
            <a:endParaRPr lang="en-US" sz="1000" dirty="0"/>
          </a:p>
        </p:txBody>
      </p:sp>
      <p:sp>
        <p:nvSpPr>
          <p:cNvPr id="31" name="Text 29"/>
          <p:cNvSpPr/>
          <p:nvPr/>
        </p:nvSpPr>
        <p:spPr>
          <a:xfrm>
            <a:off x="5074920" y="3959352"/>
            <a:ext cx="3474720" cy="201168"/>
          </a:xfrm>
          <a:prstGeom prst="rect">
            <a:avLst/>
          </a:prstGeom>
          <a:noFill/>
          <a:ln/>
        </p:spPr>
        <p:txBody>
          <a:bodyPr wrap="square" lIns="0" tIns="0" rIns="0" bIns="0" rtlCol="0" anchor="ctr"/>
          <a:lstStyle/>
          <a:p>
            <a:pPr indent="0" marL="0">
              <a:buNone/>
            </a:pPr>
            <a:r>
              <a:rPr lang="en-US" sz="850" dirty="0">
                <a:solidFill>
                  <a:srgbClr val="999999"/>
                </a:solidFill>
                <a:latin typeface="Calibri" pitchFamily="34" charset="0"/>
                <a:ea typeface="Calibri" pitchFamily="34" charset="-122"/>
                <a:cs typeface="Calibri" pitchFamily="34" charset="-120"/>
              </a:rPr>
              <a:t>Vercel / Render / Fly (demo-scale traffic)</a:t>
            </a:r>
            <a:endParaRPr lang="en-US" sz="850" dirty="0"/>
          </a:p>
        </p:txBody>
      </p:sp>
      <p:sp>
        <p:nvSpPr>
          <p:cNvPr id="32" name="Text 30"/>
          <p:cNvSpPr/>
          <p:nvPr/>
        </p:nvSpPr>
        <p:spPr>
          <a:xfrm>
            <a:off x="5074920" y="4233672"/>
            <a:ext cx="201168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PostGIS instance</a:t>
            </a:r>
            <a:endParaRPr lang="en-US" sz="1000" dirty="0"/>
          </a:p>
        </p:txBody>
      </p:sp>
      <p:sp>
        <p:nvSpPr>
          <p:cNvPr id="33" name="Text 31"/>
          <p:cNvSpPr/>
          <p:nvPr/>
        </p:nvSpPr>
        <p:spPr>
          <a:xfrm>
            <a:off x="7543800" y="4233672"/>
            <a:ext cx="1005840" cy="201168"/>
          </a:xfrm>
          <a:prstGeom prst="rect">
            <a:avLst/>
          </a:prstGeom>
          <a:noFill/>
          <a:ln/>
        </p:spPr>
        <p:txBody>
          <a:bodyPr wrap="square" lIns="0" tIns="0" rIns="0" bIns="0" rtlCol="0" anchor="ctr"/>
          <a:lstStyle/>
          <a:p>
            <a:pPr algn="r" indent="0" marL="0">
              <a:buNone/>
            </a:pPr>
            <a:r>
              <a:rPr lang="en-US" sz="1000" b="1" dirty="0">
                <a:solidFill>
                  <a:srgbClr val="C4703F"/>
                </a:solidFill>
                <a:latin typeface="Calibri" pitchFamily="34" charset="0"/>
                <a:ea typeface="Calibri" pitchFamily="34" charset="-122"/>
                <a:cs typeface="Calibri" pitchFamily="34" charset="-120"/>
              </a:rPr>
              <a:t>~2K / mo</a:t>
            </a:r>
            <a:endParaRPr lang="en-US" sz="1000" dirty="0"/>
          </a:p>
        </p:txBody>
      </p:sp>
      <p:sp>
        <p:nvSpPr>
          <p:cNvPr id="34" name="Text 32"/>
          <p:cNvSpPr/>
          <p:nvPr/>
        </p:nvSpPr>
        <p:spPr>
          <a:xfrm>
            <a:off x="5074920" y="4434840"/>
            <a:ext cx="3474720" cy="201168"/>
          </a:xfrm>
          <a:prstGeom prst="rect">
            <a:avLst/>
          </a:prstGeom>
          <a:noFill/>
          <a:ln/>
        </p:spPr>
        <p:txBody>
          <a:bodyPr wrap="square" lIns="0" tIns="0" rIns="0" bIns="0" rtlCol="0" anchor="ctr"/>
          <a:lstStyle/>
          <a:p>
            <a:pPr indent="0" marL="0">
              <a:buNone/>
            </a:pPr>
            <a:r>
              <a:rPr lang="en-US" sz="850" dirty="0">
                <a:solidFill>
                  <a:srgbClr val="999999"/>
                </a:solidFill>
                <a:latin typeface="Calibri" pitchFamily="34" charset="0"/>
                <a:ea typeface="Calibri" pitchFamily="34" charset="-122"/>
                <a:cs typeface="Calibri" pitchFamily="34" charset="-120"/>
              </a:rPr>
              <a:t>Parcel data store, smallest cloud tier</a:t>
            </a:r>
            <a:endParaRPr lang="en-US" sz="850" dirty="0"/>
          </a:p>
        </p:txBody>
      </p:sp>
      <p:sp>
        <p:nvSpPr>
          <p:cNvPr id="35" name="Shape 33"/>
          <p:cNvSpPr/>
          <p:nvPr/>
        </p:nvSpPr>
        <p:spPr>
          <a:xfrm>
            <a:off x="731520" y="4709160"/>
            <a:ext cx="8001000" cy="54864"/>
          </a:xfrm>
          <a:prstGeom prst="rect">
            <a:avLst/>
          </a:prstGeom>
          <a:solidFill>
            <a:srgbClr val="C4703F"/>
          </a:solidFill>
          <a:ln/>
        </p:spPr>
      </p:sp>
      <p:sp>
        <p:nvSpPr>
          <p:cNvPr id="36" name="Text 34"/>
          <p:cNvSpPr/>
          <p:nvPr/>
        </p:nvSpPr>
        <p:spPr>
          <a:xfrm>
            <a:off x="731520" y="4773168"/>
            <a:ext cx="8001000" cy="320040"/>
          </a:xfrm>
          <a:prstGeom prst="rect">
            <a:avLst/>
          </a:prstGeom>
          <a:noFill/>
          <a:ln/>
        </p:spPr>
        <p:txBody>
          <a:bodyPr wrap="square" lIns="0" tIns="0" rIns="0" bIns="0" rtlCol="0" anchor="ctr"/>
          <a:lstStyle/>
          <a:p>
            <a:pPr indent="0" marL="0">
              <a:buNone/>
            </a:pPr>
            <a:r>
              <a:rPr lang="en-US" sz="1100" dirty="0">
                <a:solidFill>
                  <a:srgbClr val="AAAAAA"/>
                </a:solidFill>
                <a:latin typeface="Calibri" pitchFamily="34" charset="0"/>
                <a:ea typeface="Calibri" pitchFamily="34" charset="-122"/>
                <a:cs typeface="Calibri" pitchFamily="34" charset="-120"/>
              </a:rPr>
              <a:t>Total cash outlay:  </a:t>
            </a:r>
            <a:pPr indent="0" marL="0">
              <a:buNone/>
            </a:pPr>
            <a:r>
              <a:rPr lang="en-US" sz="1400" b="1" dirty="0">
                <a:solidFill>
                  <a:srgbClr val="FFFFFF"/>
                </a:solidFill>
                <a:latin typeface="Calibri" pitchFamily="34" charset="0"/>
                <a:ea typeface="Calibri" pitchFamily="34" charset="-122"/>
                <a:cs typeface="Calibri" pitchFamily="34" charset="-120"/>
              </a:rPr>
              <a:t>1.5 – 2.5L</a:t>
            </a:r>
            <a:pPr indent="0" marL="0">
              <a:buNone/>
            </a:pPr>
            <a:r>
              <a:rPr lang="en-US" sz="1100" dirty="0">
                <a:solidFill>
                  <a:srgbClr val="555555"/>
                </a:solidFill>
                <a:latin typeface="Calibri" pitchFamily="34" charset="0"/>
                <a:ea typeface="Calibri" pitchFamily="34" charset="-122"/>
                <a:cs typeface="Calibri" pitchFamily="34" charset="-120"/>
              </a:rPr>
              <a:t>     |     </a:t>
            </a:r>
            <a:pPr indent="0" marL="0">
              <a:buNone/>
            </a:pPr>
            <a:r>
              <a:rPr lang="en-US" sz="1100" i="1" dirty="0">
                <a:solidFill>
                  <a:srgbClr val="AAAAAA"/>
                </a:solidFill>
                <a:latin typeface="Calibri" pitchFamily="34" charset="0"/>
                <a:ea typeface="Calibri" pitchFamily="34" charset="-122"/>
                <a:cs typeface="Calibri" pitchFamily="34" charset="-120"/>
              </a:rPr>
              <a:t>Real constraint: VB's attention across four parallel workstreams, not money.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Noesis — Partner Discussion, May 2026</dc:title>
  <dc:subject>PptxGenJS Presentation</dc:subject>
  <dc:creator>Noesis</dc:creator>
  <cp:lastModifiedBy>Noesis</cp:lastModifiedBy>
  <cp:revision>1</cp:revision>
  <dcterms:created xsi:type="dcterms:W3CDTF">2026-05-17T05:54:24Z</dcterms:created>
  <dcterms:modified xsi:type="dcterms:W3CDTF">2026-05-17T05:54:24Z</dcterms:modified>
</cp:coreProperties>
</file>